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9"/>
  </p:notesMasterIdLst>
  <p:sldIdLst>
    <p:sldId id="256" r:id="rId3"/>
    <p:sldId id="257" r:id="rId4"/>
    <p:sldId id="274" r:id="rId5"/>
    <p:sldId id="275" r:id="rId6"/>
    <p:sldId id="279" r:id="rId7"/>
    <p:sldId id="273" r:id="rId8"/>
  </p:sldIdLst>
  <p:sldSz cx="9144000" cy="6858000" type="screen4x3"/>
  <p:notesSz cx="6858000" cy="9144000"/>
  <p:embeddedFontLst>
    <p:embeddedFont>
      <p:font typeface="Book Antiqua" panose="02040602050305030304" pitchFamily="18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VIN S" initials="NS" lastIdx="1" clrIdx="0">
    <p:extLst>
      <p:ext uri="{19B8F6BF-5375-455C-9EA6-DF929625EA0E}">
        <p15:presenceInfo xmlns:p15="http://schemas.microsoft.com/office/powerpoint/2012/main" userId="48974601532dbe1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B2BB1E-788D-48EB-A339-A504C0F9E61C}" v="5" dt="2025-10-08T08:36:50.337"/>
  </p1510:revLst>
</p1510:revInfo>
</file>

<file path=ppt/tableStyles.xml><?xml version="1.0" encoding="utf-8"?>
<a:tblStyleLst xmlns:a="http://schemas.openxmlformats.org/drawingml/2006/main" def="{510F3301-8B3F-408C-A0C4-B94B50440ABC}">
  <a:tblStyle styleId="{510F3301-8B3F-408C-A0C4-B94B50440AB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D06F017-8913-415C-A45D-E9A5FC2D5D0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066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UN S" userId="38598acafab7c2e1" providerId="LiveId" clId="{CAFE67C3-749F-43A3-B9F2-4562D9B075CF}"/>
    <pc:docChg chg="undo custSel delSld modSld">
      <pc:chgData name="VARUN S" userId="38598acafab7c2e1" providerId="LiveId" clId="{CAFE67C3-749F-43A3-B9F2-4562D9B075CF}" dt="2025-10-08T08:36:53.677" v="28" actId="12"/>
      <pc:docMkLst>
        <pc:docMk/>
      </pc:docMkLst>
      <pc:sldChg chg="modSp mod">
        <pc:chgData name="VARUN S" userId="38598acafab7c2e1" providerId="LiveId" clId="{CAFE67C3-749F-43A3-B9F2-4562D9B075CF}" dt="2025-10-03T08:03:05.555" v="1"/>
        <pc:sldMkLst>
          <pc:docMk/>
          <pc:sldMk cId="0" sldId="256"/>
        </pc:sldMkLst>
        <pc:spChg chg="mod">
          <ac:chgData name="VARUN S" userId="38598acafab7c2e1" providerId="LiveId" clId="{CAFE67C3-749F-43A3-B9F2-4562D9B075CF}" dt="2025-10-03T08:03:05.555" v="1"/>
          <ac:spMkLst>
            <pc:docMk/>
            <pc:sldMk cId="0" sldId="256"/>
            <ac:spMk id="79" creationId="{00000000-0000-0000-0000-000000000000}"/>
          </ac:spMkLst>
        </pc:spChg>
      </pc:sldChg>
      <pc:sldChg chg="addSp delSp modSp mod">
        <pc:chgData name="VARUN S" userId="38598acafab7c2e1" providerId="LiveId" clId="{CAFE67C3-749F-43A3-B9F2-4562D9B075CF}" dt="2025-10-08T08:36:53.677" v="28" actId="12"/>
        <pc:sldMkLst>
          <pc:docMk/>
          <pc:sldMk cId="0" sldId="257"/>
        </pc:sldMkLst>
        <pc:spChg chg="add del mod">
          <ac:chgData name="VARUN S" userId="38598acafab7c2e1" providerId="LiveId" clId="{CAFE67C3-749F-43A3-B9F2-4562D9B075CF}" dt="2025-10-08T08:36:53.677" v="28" actId="12"/>
          <ac:spMkLst>
            <pc:docMk/>
            <pc:sldMk cId="0" sldId="257"/>
            <ac:spMk id="3" creationId="{8C07F03B-AFCA-5E34-594B-F30FC19C121F}"/>
          </ac:spMkLst>
        </pc:spChg>
        <pc:spChg chg="mod">
          <ac:chgData name="VARUN S" userId="38598acafab7c2e1" providerId="LiveId" clId="{CAFE67C3-749F-43A3-B9F2-4562D9B075CF}" dt="2025-10-08T06:56:41.774" v="13" actId="207"/>
          <ac:spMkLst>
            <pc:docMk/>
            <pc:sldMk cId="0" sldId="257"/>
            <ac:spMk id="7" creationId="{08D0787B-1416-D59B-0226-AD66197A578F}"/>
          </ac:spMkLst>
        </pc:spChg>
        <pc:spChg chg="mod">
          <ac:chgData name="VARUN S" userId="38598acafab7c2e1" providerId="LiveId" clId="{CAFE67C3-749F-43A3-B9F2-4562D9B075CF}" dt="2025-10-08T06:56:47.611" v="16" actId="207"/>
          <ac:spMkLst>
            <pc:docMk/>
            <pc:sldMk cId="0" sldId="257"/>
            <ac:spMk id="9" creationId="{BFD59A8C-FFCF-8505-9AA3-698A71521188}"/>
          </ac:spMkLst>
        </pc:spChg>
        <pc:spChg chg="mod">
          <ac:chgData name="VARUN S" userId="38598acafab7c2e1" providerId="LiveId" clId="{CAFE67C3-749F-43A3-B9F2-4562D9B075CF}" dt="2025-10-08T06:56:37.488" v="12" actId="207"/>
          <ac:spMkLst>
            <pc:docMk/>
            <pc:sldMk cId="0" sldId="257"/>
            <ac:spMk id="12" creationId="{19F80833-3245-8181-E455-535FCF7A5234}"/>
          </ac:spMkLst>
        </pc:spChg>
      </pc:sldChg>
      <pc:sldChg chg="delSp modSp mod">
        <pc:chgData name="VARUN S" userId="38598acafab7c2e1" providerId="LiveId" clId="{CAFE67C3-749F-43A3-B9F2-4562D9B075CF}" dt="2025-10-08T06:56:51.991" v="17" actId="207"/>
        <pc:sldMkLst>
          <pc:docMk/>
          <pc:sldMk cId="3669241031" sldId="274"/>
        </pc:sldMkLst>
        <pc:spChg chg="mod">
          <ac:chgData name="VARUN S" userId="38598acafab7c2e1" providerId="LiveId" clId="{CAFE67C3-749F-43A3-B9F2-4562D9B075CF}" dt="2025-10-05T18:09:12.298" v="6" actId="6549"/>
          <ac:spMkLst>
            <pc:docMk/>
            <pc:sldMk cId="3669241031" sldId="274"/>
            <ac:spMk id="30" creationId="{90759E40-2A30-74F6-4505-0EE0D4FAB1DA}"/>
          </ac:spMkLst>
        </pc:spChg>
        <pc:spChg chg="mod">
          <ac:chgData name="VARUN S" userId="38598acafab7c2e1" providerId="LiveId" clId="{CAFE67C3-749F-43A3-B9F2-4562D9B075CF}" dt="2025-10-08T06:56:51.991" v="17" actId="207"/>
          <ac:spMkLst>
            <pc:docMk/>
            <pc:sldMk cId="3669241031" sldId="274"/>
            <ac:spMk id="34" creationId="{61087C26-CAE5-B6AF-95C9-BFC116A9604E}"/>
          </ac:spMkLst>
        </pc:spChg>
        <pc:spChg chg="mod">
          <ac:chgData name="VARUN S" userId="38598acafab7c2e1" providerId="LiveId" clId="{CAFE67C3-749F-43A3-B9F2-4562D9B075CF}" dt="2025-10-05T18:00:12.663" v="5" actId="6549"/>
          <ac:spMkLst>
            <pc:docMk/>
            <pc:sldMk cId="3669241031" sldId="274"/>
            <ac:spMk id="53" creationId="{E5E4CB72-A217-453D-3398-C70770634F5C}"/>
          </ac:spMkLst>
        </pc:spChg>
      </pc:sldChg>
      <pc:sldChg chg="modSp mod">
        <pc:chgData name="VARUN S" userId="38598acafab7c2e1" providerId="LiveId" clId="{CAFE67C3-749F-43A3-B9F2-4562D9B075CF}" dt="2025-10-08T06:57:04.224" v="20" actId="207"/>
        <pc:sldMkLst>
          <pc:docMk/>
          <pc:sldMk cId="2277496408" sldId="275"/>
        </pc:sldMkLst>
        <pc:spChg chg="mod">
          <ac:chgData name="VARUN S" userId="38598acafab7c2e1" providerId="LiveId" clId="{CAFE67C3-749F-43A3-B9F2-4562D9B075CF}" dt="2025-10-08T06:57:00.714" v="19" actId="207"/>
          <ac:spMkLst>
            <pc:docMk/>
            <pc:sldMk cId="2277496408" sldId="275"/>
            <ac:spMk id="12" creationId="{B0135BF5-9D04-6498-4015-5C710755C7E8}"/>
          </ac:spMkLst>
        </pc:spChg>
        <pc:spChg chg="mod">
          <ac:chgData name="VARUN S" userId="38598acafab7c2e1" providerId="LiveId" clId="{CAFE67C3-749F-43A3-B9F2-4562D9B075CF}" dt="2025-10-08T06:57:04.224" v="20" actId="207"/>
          <ac:spMkLst>
            <pc:docMk/>
            <pc:sldMk cId="2277496408" sldId="275"/>
            <ac:spMk id="14" creationId="{6E546179-9DE9-F6BF-24F2-FCF3446B137A}"/>
          </ac:spMkLst>
        </pc:spChg>
        <pc:spChg chg="mod">
          <ac:chgData name="VARUN S" userId="38598acafab7c2e1" providerId="LiveId" clId="{CAFE67C3-749F-43A3-B9F2-4562D9B075CF}" dt="2025-10-08T06:56:56.106" v="18" actId="207"/>
          <ac:spMkLst>
            <pc:docMk/>
            <pc:sldMk cId="2277496408" sldId="275"/>
            <ac:spMk id="16" creationId="{2E7EC823-376B-1AE2-9496-0B87F9D9B725}"/>
          </ac:spMkLst>
        </pc:spChg>
      </pc:sldChg>
      <pc:sldChg chg="del">
        <pc:chgData name="VARUN S" userId="38598acafab7c2e1" providerId="LiveId" clId="{CAFE67C3-749F-43A3-B9F2-4562D9B075CF}" dt="2025-10-08T06:15:07.866" v="8" actId="47"/>
        <pc:sldMkLst>
          <pc:docMk/>
          <pc:sldMk cId="2630116167" sldId="277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111F9B-166C-4654-871B-7110FA3A14E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D68D04F-E61C-4C32-94E3-1F593685765A}">
      <dgm:prSet phldrT="[Text]"/>
      <dgm:spPr/>
      <dgm:t>
        <a:bodyPr/>
        <a:lstStyle/>
        <a:p>
          <a:pPr>
            <a:buNone/>
          </a:pPr>
          <a:r>
            <a:rPr lang="en-US" b="1" dirty="0">
              <a:solidFill>
                <a:schemeClr val="tx1"/>
              </a:solidFill>
            </a:rPr>
            <a:t>Efficiency:</a:t>
          </a:r>
          <a:r>
            <a:rPr lang="en-US" dirty="0">
              <a:solidFill>
                <a:schemeClr val="tx1"/>
              </a:solidFill>
            </a:rPr>
            <a:t> Automates nutrition tracking and analysis, reducing manual effort by </a:t>
          </a:r>
          <a:r>
            <a:rPr lang="en-US" b="1" dirty="0">
              <a:solidFill>
                <a:schemeClr val="tx1"/>
              </a:solidFill>
            </a:rPr>
            <a:t>65%</a:t>
          </a:r>
          <a:r>
            <a:rPr lang="en-US" dirty="0">
              <a:solidFill>
                <a:schemeClr val="tx1"/>
              </a:solidFill>
            </a:rPr>
            <a:t>.</a:t>
          </a:r>
          <a:endParaRPr lang="en-IN" dirty="0">
            <a:solidFill>
              <a:schemeClr val="tx1"/>
            </a:solidFill>
          </a:endParaRPr>
        </a:p>
      </dgm:t>
    </dgm:pt>
    <dgm:pt modelId="{DB023614-2D0D-4C33-BAE8-A2C71E60AEC4}" type="parTrans" cxnId="{DC0FBC73-12F5-4FC0-8746-1CE4BF4412F1}">
      <dgm:prSet/>
      <dgm:spPr/>
      <dgm:t>
        <a:bodyPr/>
        <a:lstStyle/>
        <a:p>
          <a:endParaRPr lang="en-IN"/>
        </a:p>
      </dgm:t>
    </dgm:pt>
    <dgm:pt modelId="{1C6BC83F-E935-4571-B469-B7EFCA986182}" type="sibTrans" cxnId="{DC0FBC73-12F5-4FC0-8746-1CE4BF4412F1}">
      <dgm:prSet/>
      <dgm:spPr/>
      <dgm:t>
        <a:bodyPr/>
        <a:lstStyle/>
        <a:p>
          <a:endParaRPr lang="en-IN"/>
        </a:p>
      </dgm:t>
    </dgm:pt>
    <dgm:pt modelId="{063F9FB2-6098-414D-9396-4C7E7565B90D}">
      <dgm:prSet/>
      <dgm:spPr/>
      <dgm:t>
        <a:bodyPr/>
        <a:lstStyle/>
        <a:p>
          <a:pPr>
            <a:buNone/>
          </a:pPr>
          <a:r>
            <a:rPr lang="en-IN" b="1" dirty="0">
              <a:solidFill>
                <a:schemeClr val="tx1"/>
              </a:solidFill>
            </a:rPr>
            <a:t>User Retention:</a:t>
          </a:r>
          <a:r>
            <a:rPr lang="en-IN" dirty="0">
              <a:solidFill>
                <a:schemeClr val="tx1"/>
              </a:solidFill>
            </a:rPr>
            <a:t> Personalized recommendations increase user engagement by </a:t>
          </a:r>
          <a:r>
            <a:rPr lang="en-IN" b="1" dirty="0">
              <a:solidFill>
                <a:schemeClr val="tx1"/>
              </a:solidFill>
            </a:rPr>
            <a:t>45%</a:t>
          </a:r>
          <a:r>
            <a:rPr lang="en-IN" dirty="0">
              <a:solidFill>
                <a:schemeClr val="tx1"/>
              </a:solidFill>
            </a:rPr>
            <a:t>.</a:t>
          </a:r>
        </a:p>
      </dgm:t>
    </dgm:pt>
    <dgm:pt modelId="{45BFDE71-CF34-479B-895E-6570221724C6}" type="parTrans" cxnId="{752D428F-093C-43C0-BE3A-9E5C4398FA09}">
      <dgm:prSet/>
      <dgm:spPr/>
      <dgm:t>
        <a:bodyPr/>
        <a:lstStyle/>
        <a:p>
          <a:endParaRPr lang="en-IN"/>
        </a:p>
      </dgm:t>
    </dgm:pt>
    <dgm:pt modelId="{FF7BB267-F95A-48E6-A77A-33C34397799F}" type="sibTrans" cxnId="{752D428F-093C-43C0-BE3A-9E5C4398FA09}">
      <dgm:prSet/>
      <dgm:spPr/>
      <dgm:t>
        <a:bodyPr/>
        <a:lstStyle/>
        <a:p>
          <a:endParaRPr lang="en-IN"/>
        </a:p>
      </dgm:t>
    </dgm:pt>
    <dgm:pt modelId="{FB53742E-7EA3-4D16-8349-C6E471B55168}">
      <dgm:prSet/>
      <dgm:spPr/>
      <dgm:t>
        <a:bodyPr/>
        <a:lstStyle/>
        <a:p>
          <a:pPr>
            <a:buNone/>
          </a:pPr>
          <a:r>
            <a:rPr lang="en-IN" b="1" dirty="0">
              <a:solidFill>
                <a:schemeClr val="tx1"/>
              </a:solidFill>
            </a:rPr>
            <a:t>🌍 Overall Benefits</a:t>
          </a:r>
          <a:endParaRPr lang="en-US" dirty="0"/>
        </a:p>
      </dgm:t>
    </dgm:pt>
    <dgm:pt modelId="{1AA89B30-1110-4E1F-83ED-5D6BD802F964}" type="parTrans" cxnId="{03989B88-610D-4326-8EBC-BE30B55782AC}">
      <dgm:prSet/>
      <dgm:spPr/>
      <dgm:t>
        <a:bodyPr/>
        <a:lstStyle/>
        <a:p>
          <a:endParaRPr lang="en-IN"/>
        </a:p>
      </dgm:t>
    </dgm:pt>
    <dgm:pt modelId="{C53B3529-223B-41D9-864E-901C2A9FA176}" type="sibTrans" cxnId="{03989B88-610D-4326-8EBC-BE30B55782AC}">
      <dgm:prSet/>
      <dgm:spPr/>
      <dgm:t>
        <a:bodyPr/>
        <a:lstStyle/>
        <a:p>
          <a:endParaRPr lang="en-IN"/>
        </a:p>
      </dgm:t>
    </dgm:pt>
    <dgm:pt modelId="{D45A2669-CF13-42F1-AE84-54E8448099A4}">
      <dgm:prSet/>
      <dgm:spPr/>
      <dgm:t>
        <a:bodyPr/>
        <a:lstStyle/>
        <a:p>
          <a:pPr>
            <a:buNone/>
          </a:pPr>
          <a:r>
            <a:rPr lang="en-US" b="1" dirty="0">
              <a:solidFill>
                <a:schemeClr val="tx1"/>
              </a:solidFill>
            </a:rPr>
            <a:t>Innovation:</a:t>
          </a:r>
          <a:r>
            <a:rPr lang="en-US" dirty="0">
              <a:solidFill>
                <a:schemeClr val="tx1"/>
              </a:solidFill>
            </a:rPr>
            <a:t> Combines NLP, health analytics, and AI recommendation systems for a </a:t>
          </a:r>
          <a:r>
            <a:rPr lang="en-US" b="1" dirty="0">
              <a:solidFill>
                <a:schemeClr val="tx1"/>
              </a:solidFill>
            </a:rPr>
            <a:t>next-gen digital nutrition ecosystem</a:t>
          </a:r>
          <a:r>
            <a:rPr lang="en-US" dirty="0">
              <a:solidFill>
                <a:schemeClr val="tx1"/>
              </a:solidFill>
            </a:rPr>
            <a:t>.</a:t>
          </a:r>
        </a:p>
      </dgm:t>
    </dgm:pt>
    <dgm:pt modelId="{A187A813-5A5D-4271-84C3-39B6B1463D4A}" type="parTrans" cxnId="{03BEE53A-2D19-4978-B196-3C1987403DFD}">
      <dgm:prSet/>
      <dgm:spPr/>
      <dgm:t>
        <a:bodyPr/>
        <a:lstStyle/>
        <a:p>
          <a:endParaRPr lang="en-IN"/>
        </a:p>
      </dgm:t>
    </dgm:pt>
    <dgm:pt modelId="{0C22F597-EC4E-4B66-8C05-B4F5BB6C3A84}" type="sibTrans" cxnId="{03BEE53A-2D19-4978-B196-3C1987403DFD}">
      <dgm:prSet/>
      <dgm:spPr/>
      <dgm:t>
        <a:bodyPr/>
        <a:lstStyle/>
        <a:p>
          <a:endParaRPr lang="en-IN"/>
        </a:p>
      </dgm:t>
    </dgm:pt>
    <dgm:pt modelId="{10C8C14B-6601-434A-BBF2-4F4FA9105BB4}">
      <dgm:prSet/>
      <dgm:spPr/>
      <dgm:t>
        <a:bodyPr/>
        <a:lstStyle/>
        <a:p>
          <a:pPr>
            <a:buNone/>
          </a:pPr>
          <a:r>
            <a:rPr lang="en-IN" b="1" dirty="0">
              <a:solidFill>
                <a:schemeClr val="tx1"/>
              </a:solidFill>
            </a:rPr>
            <a:t>Accuracy:</a:t>
          </a:r>
          <a:r>
            <a:rPr lang="en-US" dirty="0">
              <a:solidFill>
                <a:schemeClr val="tx1"/>
              </a:solidFill>
            </a:rPr>
            <a:t>NLP-based ingredient extraction improves data precision by </a:t>
          </a:r>
          <a:r>
            <a:rPr lang="en-US" b="1" dirty="0">
              <a:solidFill>
                <a:schemeClr val="tx1"/>
              </a:solidFill>
            </a:rPr>
            <a:t>35%</a:t>
          </a:r>
          <a:r>
            <a:rPr lang="en-US" dirty="0">
              <a:solidFill>
                <a:schemeClr val="tx1"/>
              </a:solidFill>
            </a:rPr>
            <a:t> compared to manual logging.</a:t>
          </a:r>
        </a:p>
      </dgm:t>
    </dgm:pt>
    <dgm:pt modelId="{A00E1FE3-CF83-4078-9C14-C8E2045121E0}" type="parTrans" cxnId="{83908CA9-39AE-4102-9790-B5BA8D7D82EF}">
      <dgm:prSet/>
      <dgm:spPr/>
      <dgm:t>
        <a:bodyPr/>
        <a:lstStyle/>
        <a:p>
          <a:endParaRPr lang="en-IN"/>
        </a:p>
      </dgm:t>
    </dgm:pt>
    <dgm:pt modelId="{F0B516B7-A61D-47B3-9B3D-4E20A22E8270}" type="sibTrans" cxnId="{83908CA9-39AE-4102-9790-B5BA8D7D82EF}">
      <dgm:prSet/>
      <dgm:spPr/>
      <dgm:t>
        <a:bodyPr/>
        <a:lstStyle/>
        <a:p>
          <a:endParaRPr lang="en-IN"/>
        </a:p>
      </dgm:t>
    </dgm:pt>
    <dgm:pt modelId="{E869C49F-8409-4797-BDF0-0EDBDFBB7314}">
      <dgm:prSet/>
      <dgm:spPr/>
      <dgm:t>
        <a:bodyPr/>
        <a:lstStyle/>
        <a:p>
          <a:pPr>
            <a:buNone/>
          </a:pPr>
          <a:r>
            <a:rPr lang="en-US" b="1">
              <a:solidFill>
                <a:schemeClr val="tx1"/>
              </a:solidFill>
            </a:rPr>
            <a:t>Scalability:</a:t>
          </a:r>
          <a:r>
            <a:rPr lang="en-US">
              <a:solidFill>
                <a:schemeClr val="tx1"/>
              </a:solidFill>
            </a:rPr>
            <a:t> Supports </a:t>
          </a:r>
          <a:r>
            <a:rPr lang="en-US" b="1">
              <a:solidFill>
                <a:schemeClr val="tx1"/>
              </a:solidFill>
            </a:rPr>
            <a:t>multi-user and multilingual</a:t>
          </a:r>
          <a:r>
            <a:rPr lang="en-US">
              <a:solidFill>
                <a:schemeClr val="tx1"/>
              </a:solidFill>
            </a:rPr>
            <a:t> environments with minimal computational overhead.</a:t>
          </a:r>
          <a:endParaRPr lang="en-US" dirty="0"/>
        </a:p>
      </dgm:t>
    </dgm:pt>
    <dgm:pt modelId="{41065DD0-1A6F-405D-A070-28228F9C2488}" type="parTrans" cxnId="{911A5398-56E9-4644-950D-175E3C28A62E}">
      <dgm:prSet/>
      <dgm:spPr/>
      <dgm:t>
        <a:bodyPr/>
        <a:lstStyle/>
        <a:p>
          <a:endParaRPr lang="en-IN"/>
        </a:p>
      </dgm:t>
    </dgm:pt>
    <dgm:pt modelId="{C8B7C54B-6793-415B-971E-4D189B2BAE08}" type="sibTrans" cxnId="{911A5398-56E9-4644-950D-175E3C28A62E}">
      <dgm:prSet/>
      <dgm:spPr/>
      <dgm:t>
        <a:bodyPr/>
        <a:lstStyle/>
        <a:p>
          <a:endParaRPr lang="en-IN"/>
        </a:p>
      </dgm:t>
    </dgm:pt>
    <dgm:pt modelId="{9AF461C9-9706-4DB1-B378-D4A8C243FCEC}" type="pres">
      <dgm:prSet presAssocID="{28111F9B-166C-4654-871B-7110FA3A14EC}" presName="linear" presStyleCnt="0">
        <dgm:presLayoutVars>
          <dgm:animLvl val="lvl"/>
          <dgm:resizeHandles val="exact"/>
        </dgm:presLayoutVars>
      </dgm:prSet>
      <dgm:spPr/>
    </dgm:pt>
    <dgm:pt modelId="{34A373C2-B513-4031-8E3C-47DA85552D86}" type="pres">
      <dgm:prSet presAssocID="{FD68D04F-E61C-4C32-94E3-1F593685765A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EEB9FA95-0D5C-417C-8F9D-E3316AA6E537}" type="pres">
      <dgm:prSet presAssocID="{1C6BC83F-E935-4571-B469-B7EFCA986182}" presName="spacer" presStyleCnt="0"/>
      <dgm:spPr/>
    </dgm:pt>
    <dgm:pt modelId="{4BD32515-2DF1-4E56-B2A4-B1D62C106D64}" type="pres">
      <dgm:prSet presAssocID="{063F9FB2-6098-414D-9396-4C7E7565B90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98FD395-82DA-4F9A-B003-6ACDACB86A1F}" type="pres">
      <dgm:prSet presAssocID="{FF7BB267-F95A-48E6-A77A-33C34397799F}" presName="spacer" presStyleCnt="0"/>
      <dgm:spPr/>
    </dgm:pt>
    <dgm:pt modelId="{D9CA8FD5-C09F-4C18-8B3F-55B912B98A40}" type="pres">
      <dgm:prSet presAssocID="{FB53742E-7EA3-4D16-8349-C6E471B55168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92C203C4-2CAC-429E-BFC0-74C6CF21C1C5}" type="pres">
      <dgm:prSet presAssocID="{C53B3529-223B-41D9-864E-901C2A9FA176}" presName="spacer" presStyleCnt="0"/>
      <dgm:spPr/>
    </dgm:pt>
    <dgm:pt modelId="{72E24A84-243A-4DC9-BB64-757D1BA0BC97}" type="pres">
      <dgm:prSet presAssocID="{E869C49F-8409-4797-BDF0-0EDBDFBB7314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84515A86-B642-4B17-89FE-ACF038E3218D}" type="pres">
      <dgm:prSet presAssocID="{C8B7C54B-6793-415B-971E-4D189B2BAE08}" presName="spacer" presStyleCnt="0"/>
      <dgm:spPr/>
    </dgm:pt>
    <dgm:pt modelId="{6AC422B7-C59C-4789-A622-56D54FD20BD7}" type="pres">
      <dgm:prSet presAssocID="{D45A2669-CF13-42F1-AE84-54E8448099A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8E92EEE4-8948-44F6-B8C1-3D51AFAA52EC}" type="pres">
      <dgm:prSet presAssocID="{0C22F597-EC4E-4B66-8C05-B4F5BB6C3A84}" presName="spacer" presStyleCnt="0"/>
      <dgm:spPr/>
    </dgm:pt>
    <dgm:pt modelId="{392B9EB8-B095-4742-A374-A804999D9850}" type="pres">
      <dgm:prSet presAssocID="{10C8C14B-6601-434A-BBF2-4F4FA9105BB4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3BEE53A-2D19-4978-B196-3C1987403DFD}" srcId="{28111F9B-166C-4654-871B-7110FA3A14EC}" destId="{D45A2669-CF13-42F1-AE84-54E8448099A4}" srcOrd="4" destOrd="0" parTransId="{A187A813-5A5D-4271-84C3-39B6B1463D4A}" sibTransId="{0C22F597-EC4E-4B66-8C05-B4F5BB6C3A84}"/>
    <dgm:cxn modelId="{5C46905C-74C8-437E-92BA-F3ED2806250C}" type="presOf" srcId="{E869C49F-8409-4797-BDF0-0EDBDFBB7314}" destId="{72E24A84-243A-4DC9-BB64-757D1BA0BC97}" srcOrd="0" destOrd="0" presId="urn:microsoft.com/office/officeart/2005/8/layout/vList2"/>
    <dgm:cxn modelId="{4924BB60-D30E-41B0-9F0D-AF4D5F2B2409}" type="presOf" srcId="{28111F9B-166C-4654-871B-7110FA3A14EC}" destId="{9AF461C9-9706-4DB1-B378-D4A8C243FCEC}" srcOrd="0" destOrd="0" presId="urn:microsoft.com/office/officeart/2005/8/layout/vList2"/>
    <dgm:cxn modelId="{BC702D50-6DCA-4C95-B65B-C9AFD166B59D}" type="presOf" srcId="{FB53742E-7EA3-4D16-8349-C6E471B55168}" destId="{D9CA8FD5-C09F-4C18-8B3F-55B912B98A40}" srcOrd="0" destOrd="0" presId="urn:microsoft.com/office/officeart/2005/8/layout/vList2"/>
    <dgm:cxn modelId="{DC0FBC73-12F5-4FC0-8746-1CE4BF4412F1}" srcId="{28111F9B-166C-4654-871B-7110FA3A14EC}" destId="{FD68D04F-E61C-4C32-94E3-1F593685765A}" srcOrd="0" destOrd="0" parTransId="{DB023614-2D0D-4C33-BAE8-A2C71E60AEC4}" sibTransId="{1C6BC83F-E935-4571-B469-B7EFCA986182}"/>
    <dgm:cxn modelId="{03989B88-610D-4326-8EBC-BE30B55782AC}" srcId="{28111F9B-166C-4654-871B-7110FA3A14EC}" destId="{FB53742E-7EA3-4D16-8349-C6E471B55168}" srcOrd="2" destOrd="0" parTransId="{1AA89B30-1110-4E1F-83ED-5D6BD802F964}" sibTransId="{C53B3529-223B-41D9-864E-901C2A9FA176}"/>
    <dgm:cxn modelId="{752D428F-093C-43C0-BE3A-9E5C4398FA09}" srcId="{28111F9B-166C-4654-871B-7110FA3A14EC}" destId="{063F9FB2-6098-414D-9396-4C7E7565B90D}" srcOrd="1" destOrd="0" parTransId="{45BFDE71-CF34-479B-895E-6570221724C6}" sibTransId="{FF7BB267-F95A-48E6-A77A-33C34397799F}"/>
    <dgm:cxn modelId="{911A5398-56E9-4644-950D-175E3C28A62E}" srcId="{28111F9B-166C-4654-871B-7110FA3A14EC}" destId="{E869C49F-8409-4797-BDF0-0EDBDFBB7314}" srcOrd="3" destOrd="0" parTransId="{41065DD0-1A6F-405D-A070-28228F9C2488}" sibTransId="{C8B7C54B-6793-415B-971E-4D189B2BAE08}"/>
    <dgm:cxn modelId="{83908CA9-39AE-4102-9790-B5BA8D7D82EF}" srcId="{28111F9B-166C-4654-871B-7110FA3A14EC}" destId="{10C8C14B-6601-434A-BBF2-4F4FA9105BB4}" srcOrd="5" destOrd="0" parTransId="{A00E1FE3-CF83-4078-9C14-C8E2045121E0}" sibTransId="{F0B516B7-A61D-47B3-9B3D-4E20A22E8270}"/>
    <dgm:cxn modelId="{599634AF-1F3A-49BA-B1E6-1A1EFB56D8EF}" type="presOf" srcId="{D45A2669-CF13-42F1-AE84-54E8448099A4}" destId="{6AC422B7-C59C-4789-A622-56D54FD20BD7}" srcOrd="0" destOrd="0" presId="urn:microsoft.com/office/officeart/2005/8/layout/vList2"/>
    <dgm:cxn modelId="{F59EA8C8-E937-4356-94B5-E4E3C7CE1BA8}" type="presOf" srcId="{063F9FB2-6098-414D-9396-4C7E7565B90D}" destId="{4BD32515-2DF1-4E56-B2A4-B1D62C106D64}" srcOrd="0" destOrd="0" presId="urn:microsoft.com/office/officeart/2005/8/layout/vList2"/>
    <dgm:cxn modelId="{E04070C9-3D84-4BCF-BC0E-AC18574D461F}" type="presOf" srcId="{10C8C14B-6601-434A-BBF2-4F4FA9105BB4}" destId="{392B9EB8-B095-4742-A374-A804999D9850}" srcOrd="0" destOrd="0" presId="urn:microsoft.com/office/officeart/2005/8/layout/vList2"/>
    <dgm:cxn modelId="{DEB5F8F7-9CA5-4CD4-8D50-98EAA83D2F0F}" type="presOf" srcId="{FD68D04F-E61C-4C32-94E3-1F593685765A}" destId="{34A373C2-B513-4031-8E3C-47DA85552D86}" srcOrd="0" destOrd="0" presId="urn:microsoft.com/office/officeart/2005/8/layout/vList2"/>
    <dgm:cxn modelId="{1871ACBC-11C2-4A49-9755-4CC477864590}" type="presParOf" srcId="{9AF461C9-9706-4DB1-B378-D4A8C243FCEC}" destId="{34A373C2-B513-4031-8E3C-47DA85552D86}" srcOrd="0" destOrd="0" presId="urn:microsoft.com/office/officeart/2005/8/layout/vList2"/>
    <dgm:cxn modelId="{14C52743-08DB-4ADA-A54D-656BDCE35505}" type="presParOf" srcId="{9AF461C9-9706-4DB1-B378-D4A8C243FCEC}" destId="{EEB9FA95-0D5C-417C-8F9D-E3316AA6E537}" srcOrd="1" destOrd="0" presId="urn:microsoft.com/office/officeart/2005/8/layout/vList2"/>
    <dgm:cxn modelId="{AAE6F217-150E-4358-A36C-27B8BD716562}" type="presParOf" srcId="{9AF461C9-9706-4DB1-B378-D4A8C243FCEC}" destId="{4BD32515-2DF1-4E56-B2A4-B1D62C106D64}" srcOrd="2" destOrd="0" presId="urn:microsoft.com/office/officeart/2005/8/layout/vList2"/>
    <dgm:cxn modelId="{C52377A1-886A-4F1D-B933-9F305B84005B}" type="presParOf" srcId="{9AF461C9-9706-4DB1-B378-D4A8C243FCEC}" destId="{A98FD395-82DA-4F9A-B003-6ACDACB86A1F}" srcOrd="3" destOrd="0" presId="urn:microsoft.com/office/officeart/2005/8/layout/vList2"/>
    <dgm:cxn modelId="{0C058534-9724-4393-8C40-286A6F43AC14}" type="presParOf" srcId="{9AF461C9-9706-4DB1-B378-D4A8C243FCEC}" destId="{D9CA8FD5-C09F-4C18-8B3F-55B912B98A40}" srcOrd="4" destOrd="0" presId="urn:microsoft.com/office/officeart/2005/8/layout/vList2"/>
    <dgm:cxn modelId="{62BAF253-A8EB-4859-A7F7-5DB1A270A0A8}" type="presParOf" srcId="{9AF461C9-9706-4DB1-B378-D4A8C243FCEC}" destId="{92C203C4-2CAC-429E-BFC0-74C6CF21C1C5}" srcOrd="5" destOrd="0" presId="urn:microsoft.com/office/officeart/2005/8/layout/vList2"/>
    <dgm:cxn modelId="{904B0AE7-FBB5-4642-8F69-4390116DBD6F}" type="presParOf" srcId="{9AF461C9-9706-4DB1-B378-D4A8C243FCEC}" destId="{72E24A84-243A-4DC9-BB64-757D1BA0BC97}" srcOrd="6" destOrd="0" presId="urn:microsoft.com/office/officeart/2005/8/layout/vList2"/>
    <dgm:cxn modelId="{8D441B1B-81FB-4302-826C-9CEA23A285E8}" type="presParOf" srcId="{9AF461C9-9706-4DB1-B378-D4A8C243FCEC}" destId="{84515A86-B642-4B17-89FE-ACF038E3218D}" srcOrd="7" destOrd="0" presId="urn:microsoft.com/office/officeart/2005/8/layout/vList2"/>
    <dgm:cxn modelId="{69EF0982-C327-463A-B989-D1FB08AEBBCC}" type="presParOf" srcId="{9AF461C9-9706-4DB1-B378-D4A8C243FCEC}" destId="{6AC422B7-C59C-4789-A622-56D54FD20BD7}" srcOrd="8" destOrd="0" presId="urn:microsoft.com/office/officeart/2005/8/layout/vList2"/>
    <dgm:cxn modelId="{5AD7A591-2CF1-4A89-83E3-2553EB11B2B2}" type="presParOf" srcId="{9AF461C9-9706-4DB1-B378-D4A8C243FCEC}" destId="{8E92EEE4-8948-44F6-B8C1-3D51AFAA52EC}" srcOrd="9" destOrd="0" presId="urn:microsoft.com/office/officeart/2005/8/layout/vList2"/>
    <dgm:cxn modelId="{20A35C54-9C64-4E06-90FA-D4899E07F37E}" type="presParOf" srcId="{9AF461C9-9706-4DB1-B378-D4A8C243FCEC}" destId="{392B9EB8-B095-4742-A374-A804999D985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A373C2-B513-4031-8E3C-47DA85552D86}">
      <dsp:nvSpPr>
        <dsp:cNvPr id="0" name=""/>
        <dsp:cNvSpPr/>
      </dsp:nvSpPr>
      <dsp:spPr>
        <a:xfrm>
          <a:off x="0" y="4175"/>
          <a:ext cx="3042699" cy="8094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/>
              </a:solidFill>
            </a:rPr>
            <a:t>Efficiency:</a:t>
          </a:r>
          <a:r>
            <a:rPr lang="en-US" sz="1200" kern="1200" dirty="0">
              <a:solidFill>
                <a:schemeClr val="tx1"/>
              </a:solidFill>
            </a:rPr>
            <a:t> Automates nutrition tracking and analysis, reducing manual effort by </a:t>
          </a:r>
          <a:r>
            <a:rPr lang="en-US" sz="1200" b="1" kern="1200" dirty="0">
              <a:solidFill>
                <a:schemeClr val="tx1"/>
              </a:solidFill>
            </a:rPr>
            <a:t>65%</a:t>
          </a:r>
          <a:r>
            <a:rPr lang="en-US" sz="1200" kern="1200" dirty="0">
              <a:solidFill>
                <a:schemeClr val="tx1"/>
              </a:solidFill>
            </a:rPr>
            <a:t>.</a:t>
          </a:r>
          <a:endParaRPr lang="en-IN" sz="1200" kern="1200" dirty="0">
            <a:solidFill>
              <a:schemeClr val="tx1"/>
            </a:solidFill>
          </a:endParaRPr>
        </a:p>
      </dsp:txBody>
      <dsp:txXfrm>
        <a:off x="39516" y="43691"/>
        <a:ext cx="2963667" cy="730461"/>
      </dsp:txXfrm>
    </dsp:sp>
    <dsp:sp modelId="{4BD32515-2DF1-4E56-B2A4-B1D62C106D64}">
      <dsp:nvSpPr>
        <dsp:cNvPr id="0" name=""/>
        <dsp:cNvSpPr/>
      </dsp:nvSpPr>
      <dsp:spPr>
        <a:xfrm>
          <a:off x="0" y="848229"/>
          <a:ext cx="3042699" cy="8094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solidFill>
                <a:schemeClr val="tx1"/>
              </a:solidFill>
            </a:rPr>
            <a:t>User Retention:</a:t>
          </a:r>
          <a:r>
            <a:rPr lang="en-IN" sz="1200" kern="1200" dirty="0">
              <a:solidFill>
                <a:schemeClr val="tx1"/>
              </a:solidFill>
            </a:rPr>
            <a:t> Personalized recommendations increase user engagement by </a:t>
          </a:r>
          <a:r>
            <a:rPr lang="en-IN" sz="1200" b="1" kern="1200" dirty="0">
              <a:solidFill>
                <a:schemeClr val="tx1"/>
              </a:solidFill>
            </a:rPr>
            <a:t>45%</a:t>
          </a:r>
          <a:r>
            <a:rPr lang="en-IN" sz="1200" kern="1200" dirty="0">
              <a:solidFill>
                <a:schemeClr val="tx1"/>
              </a:solidFill>
            </a:rPr>
            <a:t>.</a:t>
          </a:r>
        </a:p>
      </dsp:txBody>
      <dsp:txXfrm>
        <a:off x="39516" y="887745"/>
        <a:ext cx="2963667" cy="730461"/>
      </dsp:txXfrm>
    </dsp:sp>
    <dsp:sp modelId="{D9CA8FD5-C09F-4C18-8B3F-55B912B98A40}">
      <dsp:nvSpPr>
        <dsp:cNvPr id="0" name=""/>
        <dsp:cNvSpPr/>
      </dsp:nvSpPr>
      <dsp:spPr>
        <a:xfrm>
          <a:off x="0" y="1692282"/>
          <a:ext cx="3042699" cy="8094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solidFill>
                <a:schemeClr val="tx1"/>
              </a:solidFill>
            </a:rPr>
            <a:t>🌍 Overall Benefits</a:t>
          </a:r>
          <a:endParaRPr lang="en-US" sz="1200" kern="1200" dirty="0"/>
        </a:p>
      </dsp:txBody>
      <dsp:txXfrm>
        <a:off x="39516" y="1731798"/>
        <a:ext cx="2963667" cy="730461"/>
      </dsp:txXfrm>
    </dsp:sp>
    <dsp:sp modelId="{72E24A84-243A-4DC9-BB64-757D1BA0BC97}">
      <dsp:nvSpPr>
        <dsp:cNvPr id="0" name=""/>
        <dsp:cNvSpPr/>
      </dsp:nvSpPr>
      <dsp:spPr>
        <a:xfrm>
          <a:off x="0" y="2536336"/>
          <a:ext cx="3042699" cy="8094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chemeClr val="tx1"/>
              </a:solidFill>
            </a:rPr>
            <a:t>Scalability:</a:t>
          </a:r>
          <a:r>
            <a:rPr lang="en-US" sz="1200" kern="1200">
              <a:solidFill>
                <a:schemeClr val="tx1"/>
              </a:solidFill>
            </a:rPr>
            <a:t> Supports </a:t>
          </a:r>
          <a:r>
            <a:rPr lang="en-US" sz="1200" b="1" kern="1200">
              <a:solidFill>
                <a:schemeClr val="tx1"/>
              </a:solidFill>
            </a:rPr>
            <a:t>multi-user and multilingual</a:t>
          </a:r>
          <a:r>
            <a:rPr lang="en-US" sz="1200" kern="1200">
              <a:solidFill>
                <a:schemeClr val="tx1"/>
              </a:solidFill>
            </a:rPr>
            <a:t> environments with minimal computational overhead.</a:t>
          </a:r>
          <a:endParaRPr lang="en-US" sz="1200" kern="1200" dirty="0"/>
        </a:p>
      </dsp:txBody>
      <dsp:txXfrm>
        <a:off x="39516" y="2575852"/>
        <a:ext cx="2963667" cy="730461"/>
      </dsp:txXfrm>
    </dsp:sp>
    <dsp:sp modelId="{6AC422B7-C59C-4789-A622-56D54FD20BD7}">
      <dsp:nvSpPr>
        <dsp:cNvPr id="0" name=""/>
        <dsp:cNvSpPr/>
      </dsp:nvSpPr>
      <dsp:spPr>
        <a:xfrm>
          <a:off x="0" y="3380390"/>
          <a:ext cx="3042699" cy="8094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/>
              </a:solidFill>
            </a:rPr>
            <a:t>Innovation:</a:t>
          </a:r>
          <a:r>
            <a:rPr lang="en-US" sz="1200" kern="1200" dirty="0">
              <a:solidFill>
                <a:schemeClr val="tx1"/>
              </a:solidFill>
            </a:rPr>
            <a:t> Combines NLP, health analytics, and AI recommendation systems for a </a:t>
          </a:r>
          <a:r>
            <a:rPr lang="en-US" sz="1200" b="1" kern="1200" dirty="0">
              <a:solidFill>
                <a:schemeClr val="tx1"/>
              </a:solidFill>
            </a:rPr>
            <a:t>next-gen digital nutrition ecosystem</a:t>
          </a:r>
          <a:r>
            <a:rPr lang="en-US" sz="1200" kern="1200" dirty="0">
              <a:solidFill>
                <a:schemeClr val="tx1"/>
              </a:solidFill>
            </a:rPr>
            <a:t>.</a:t>
          </a:r>
        </a:p>
      </dsp:txBody>
      <dsp:txXfrm>
        <a:off x="39516" y="3419906"/>
        <a:ext cx="2963667" cy="730461"/>
      </dsp:txXfrm>
    </dsp:sp>
    <dsp:sp modelId="{392B9EB8-B095-4742-A374-A804999D9850}">
      <dsp:nvSpPr>
        <dsp:cNvPr id="0" name=""/>
        <dsp:cNvSpPr/>
      </dsp:nvSpPr>
      <dsp:spPr>
        <a:xfrm>
          <a:off x="0" y="4224443"/>
          <a:ext cx="3042699" cy="8094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solidFill>
                <a:schemeClr val="tx1"/>
              </a:solidFill>
            </a:rPr>
            <a:t>Accuracy:</a:t>
          </a:r>
          <a:r>
            <a:rPr lang="en-US" sz="1200" kern="1200" dirty="0">
              <a:solidFill>
                <a:schemeClr val="tx1"/>
              </a:solidFill>
            </a:rPr>
            <a:t>NLP-based ingredient extraction improves data precision by </a:t>
          </a:r>
          <a:r>
            <a:rPr lang="en-US" sz="1200" b="1" kern="1200" dirty="0">
              <a:solidFill>
                <a:schemeClr val="tx1"/>
              </a:solidFill>
            </a:rPr>
            <a:t>35%</a:t>
          </a:r>
          <a:r>
            <a:rPr lang="en-US" sz="1200" kern="1200" dirty="0">
              <a:solidFill>
                <a:schemeClr val="tx1"/>
              </a:solidFill>
            </a:rPr>
            <a:t> compared to manual logging.</a:t>
          </a:r>
        </a:p>
      </dsp:txBody>
      <dsp:txXfrm>
        <a:off x="39516" y="4263959"/>
        <a:ext cx="2963667" cy="7304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851580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2819400" y="304800"/>
            <a:ext cx="60960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rgbClr val="660066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276600" y="2514600"/>
            <a:ext cx="5562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2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381000" y="14176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817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9342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ftr" idx="11"/>
          </p:nvPr>
        </p:nvSpPr>
        <p:spPr>
          <a:xfrm>
            <a:off x="3124200" y="63817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69342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 rot="5400000">
            <a:off x="4562475" y="1895475"/>
            <a:ext cx="5943600" cy="215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 rot="5400000">
            <a:off x="180975" y="-180975"/>
            <a:ext cx="5943600" cy="630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3124200" y="63817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69342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 rot="5400000">
            <a:off x="2232819" y="-434182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ftr" idx="11"/>
          </p:nvPr>
        </p:nvSpPr>
        <p:spPr>
          <a:xfrm>
            <a:off x="3124200" y="63817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69342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ftr" idx="11"/>
          </p:nvPr>
        </p:nvSpPr>
        <p:spPr>
          <a:xfrm>
            <a:off x="3124200" y="63817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ldNum" idx="12"/>
          </p:nvPr>
        </p:nvSpPr>
        <p:spPr>
          <a:xfrm>
            <a:off x="69342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81000" y="14176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2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381000" y="14176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2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ftr" idx="11"/>
          </p:nvPr>
        </p:nvSpPr>
        <p:spPr>
          <a:xfrm>
            <a:off x="3124200" y="63817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69342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8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ctrTitle"/>
          </p:nvPr>
        </p:nvSpPr>
        <p:spPr>
          <a:xfrm>
            <a:off x="2908126" y="2693987"/>
            <a:ext cx="60960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2800"/>
            </a:pPr>
            <a:r>
              <a:rPr lang="en-US" sz="2800" dirty="0">
                <a:solidFill>
                  <a:schemeClr val="tx1"/>
                </a:solidFill>
              </a:rPr>
              <a:t>AI-Powered Nutrition Chatbot &amp; Meal Planner using NLP</a:t>
            </a:r>
            <a:endParaRPr lang="en-IN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5161348" y="5235662"/>
            <a:ext cx="3732131" cy="133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PRESENTED BY</a:t>
            </a: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1" dirty="0">
                <a:solidFill>
                  <a:schemeClr val="dk1"/>
                </a:solidFill>
                <a:latin typeface="+mj-lt"/>
                <a:cs typeface="Times New Roman"/>
                <a:sym typeface="Times New Roman"/>
              </a:rPr>
              <a:t>LATHIKA S – 2303717673822018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ts val="1800"/>
            </a:pPr>
            <a:r>
              <a:rPr lang="en-US" sz="1800" b="1" dirty="0">
                <a:solidFill>
                  <a:schemeClr val="dk1"/>
                </a:solidFill>
                <a:latin typeface="+mj-lt"/>
                <a:cs typeface="Times New Roman"/>
                <a:sym typeface="Times New Roman"/>
              </a:rPr>
              <a:t>VARUN S</a:t>
            </a:r>
            <a:r>
              <a:rPr lang="en-US" sz="1800" b="1" dirty="0">
                <a:solidFill>
                  <a:schemeClr val="dk1"/>
                </a:solidFill>
                <a:cs typeface="Times New Roman"/>
                <a:sym typeface="Times New Roman"/>
              </a:rPr>
              <a:t> – </a:t>
            </a:r>
            <a:r>
              <a:rPr lang="en-US" sz="1800" b="1" dirty="0">
                <a:solidFill>
                  <a:schemeClr val="dk1"/>
                </a:solidFill>
                <a:latin typeface="+mj-lt"/>
                <a:cs typeface="Times New Roman"/>
                <a:sym typeface="Times New Roman"/>
              </a:rPr>
              <a:t>2303717673821054</a:t>
            </a:r>
            <a:endParaRPr lang="en-IN" dirty="0"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18773" y="531346"/>
            <a:ext cx="587470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COIMBATORE INSTITUTE OF TECHNOLOGY</a:t>
            </a:r>
          </a:p>
          <a:p>
            <a:pPr algn="ctr"/>
            <a:r>
              <a:rPr lang="en-US" sz="1600" b="1" dirty="0"/>
              <a:t>DEPARTMENT OF COMPUTING -  DATA SCIENCE</a:t>
            </a:r>
          </a:p>
          <a:p>
            <a:pPr algn="ctr"/>
            <a:r>
              <a:rPr lang="en-US" sz="1600" b="1" dirty="0"/>
              <a:t>SEPTEMBER-2025</a:t>
            </a:r>
            <a:endParaRPr lang="en-IN" sz="1600" b="1" dirty="0"/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539750" y="0"/>
            <a:ext cx="74612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+mj-lt"/>
              </a:rPr>
              <a:t>PROBLEM STATEMENT</a:t>
            </a:r>
            <a:endParaRPr lang="en-IN" b="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4BE4A636-467E-6A78-B816-2F16F9015F61}"/>
              </a:ext>
            </a:extLst>
          </p:cNvPr>
          <p:cNvSpPr/>
          <p:nvPr/>
        </p:nvSpPr>
        <p:spPr>
          <a:xfrm>
            <a:off x="23474" y="4669724"/>
            <a:ext cx="3930459" cy="1400876"/>
          </a:xfrm>
          <a:prstGeom prst="round2Diag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D0787B-1416-D59B-0226-AD66197A578F}"/>
              </a:ext>
            </a:extLst>
          </p:cNvPr>
          <p:cNvSpPr txBox="1"/>
          <p:nvPr/>
        </p:nvSpPr>
        <p:spPr>
          <a:xfrm>
            <a:off x="4123263" y="1371928"/>
            <a:ext cx="4690537" cy="37548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b="1" u="sng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Addressing the Problem</a:t>
            </a:r>
          </a:p>
          <a:p>
            <a:endParaRPr lang="en-US" b="1" u="sng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People struggle with tracking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nutrition quality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and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meal balance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Generic meal planners fail to adapt to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personal goals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health conditions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or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dietary restrictions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Lack of an AI system that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understands natural language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and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responds intelligently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The solution offers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real-time, AI-driven personalization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with evidence-based nutrition guidance.</a:t>
            </a:r>
          </a:p>
          <a:p>
            <a:endParaRPr lang="en-US" b="1" u="sng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u="sng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u="sng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u="sng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u="sng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u="sng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u="sng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219835-60BA-4ABA-7B8B-DA1A2728B7C3}"/>
              </a:ext>
            </a:extLst>
          </p:cNvPr>
          <p:cNvSpPr/>
          <p:nvPr/>
        </p:nvSpPr>
        <p:spPr>
          <a:xfrm>
            <a:off x="4123267" y="1251892"/>
            <a:ext cx="4792133" cy="2581205"/>
          </a:xfrm>
          <a:prstGeom prst="roundRect">
            <a:avLst>
              <a:gd name="adj" fmla="val 4280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D59A8C-FFCF-8505-9AA3-698A71521188}"/>
              </a:ext>
            </a:extLst>
          </p:cNvPr>
          <p:cNvSpPr txBox="1"/>
          <p:nvPr/>
        </p:nvSpPr>
        <p:spPr>
          <a:xfrm>
            <a:off x="4141842" y="3962400"/>
            <a:ext cx="4671958" cy="25237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b="1" u="sng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Innovation and Uniqueness</a:t>
            </a:r>
          </a:p>
          <a:p>
            <a:endParaRPr lang="en-US" sz="1600" b="1" u="sng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Hybrid AI + NLP model for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3× higher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ingredient parsing accuracy.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Real-time adaptive 7-day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meal generation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using live nutrition data.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AI-based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ingredient substitution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for allergens and diet preferences.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Cohere-powered chatbot for personalized, context-aware conversations.</a:t>
            </a:r>
            <a:endParaRPr lang="en-US" b="1" u="sng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kern="100" dirty="0">
              <a:solidFill>
                <a:schemeClr val="accent6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49D22C-3D3A-C474-5BCE-9754CAE42886}"/>
              </a:ext>
            </a:extLst>
          </p:cNvPr>
          <p:cNvSpPr/>
          <p:nvPr/>
        </p:nvSpPr>
        <p:spPr>
          <a:xfrm>
            <a:off x="4133266" y="3962399"/>
            <a:ext cx="4782134" cy="2358887"/>
          </a:xfrm>
          <a:prstGeom prst="roundRect">
            <a:avLst>
              <a:gd name="adj" fmla="val 4280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19F80833-3245-8181-E455-535FCF7A5234}"/>
              </a:ext>
            </a:extLst>
          </p:cNvPr>
          <p:cNvSpPr txBox="1"/>
          <p:nvPr/>
        </p:nvSpPr>
        <p:spPr>
          <a:xfrm>
            <a:off x="338138" y="1325054"/>
            <a:ext cx="3700462" cy="26225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25"/>
              </a:spcBef>
              <a:buSzPct val="96875"/>
              <a:tabLst>
                <a:tab pos="374650" algn="l"/>
              </a:tabLst>
            </a:pPr>
            <a:r>
              <a:rPr lang="en-IN" sz="1600" b="1" u="sng" dirty="0">
                <a:solidFill>
                  <a:schemeClr val="accent6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Proposed</a:t>
            </a:r>
            <a:r>
              <a:rPr lang="en-IN" sz="1600" b="1" u="sng" spc="-105" dirty="0">
                <a:solidFill>
                  <a:schemeClr val="accent6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 </a:t>
            </a:r>
            <a:r>
              <a:rPr lang="en-IN" sz="1600" b="1" u="sng" dirty="0">
                <a:solidFill>
                  <a:schemeClr val="accent6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07F03B-AFCA-5E34-594B-F30FC19C121F}"/>
              </a:ext>
            </a:extLst>
          </p:cNvPr>
          <p:cNvSpPr txBox="1"/>
          <p:nvPr/>
        </p:nvSpPr>
        <p:spPr>
          <a:xfrm>
            <a:off x="211667" y="1811867"/>
            <a:ext cx="3810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Implementation of an AI-Powered Personalized Nutrition and Wellness Dashboard with NLP-Driven Meal Intelligence and Secure Health Data Management</a:t>
            </a:r>
          </a:p>
          <a:p>
            <a:endParaRPr lang="en-US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Automatically extracts nutritional data from user-input meals.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Syncs with trusted nutrition databases for accurate insights and it offers an intuitive interface with strong data privacy.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14" name="Picture 1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B000A40-2537-B33B-0CFF-3A828EA08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4" y="4979006"/>
            <a:ext cx="391156" cy="391156"/>
          </a:xfrm>
          <a:prstGeom prst="rect">
            <a:avLst/>
          </a:prstGeom>
        </p:spPr>
      </p:pic>
      <p:pic>
        <p:nvPicPr>
          <p:cNvPr id="16" name="Picture 15" descr="A blue brain with arrows around it&#10;&#10;AI-generated content may be incorrect.">
            <a:extLst>
              <a:ext uri="{FF2B5EF4-FFF2-40B4-BE49-F238E27FC236}">
                <a16:creationId xmlns:a16="http://schemas.microsoft.com/office/drawing/2014/main" id="{977C9B32-65D1-9F5B-DF28-D338E5702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52" y="4999074"/>
            <a:ext cx="391155" cy="388951"/>
          </a:xfrm>
          <a:prstGeom prst="rect">
            <a:avLst/>
          </a:prstGeom>
        </p:spPr>
      </p:pic>
      <p:pic>
        <p:nvPicPr>
          <p:cNvPr id="18" name="Picture 1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6B69BF6-1AF6-FC99-D1AC-DFDFB9626A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933" y="4970749"/>
            <a:ext cx="391155" cy="369801"/>
          </a:xfrm>
          <a:prstGeom prst="rect">
            <a:avLst/>
          </a:prstGeom>
        </p:spPr>
      </p:pic>
      <p:pic>
        <p:nvPicPr>
          <p:cNvPr id="20" name="Picture 19" descr="A bowl of salad with watermelon slices&#10;&#10;AI-generated content may be incorrect.">
            <a:extLst>
              <a:ext uri="{FF2B5EF4-FFF2-40B4-BE49-F238E27FC236}">
                <a16:creationId xmlns:a16="http://schemas.microsoft.com/office/drawing/2014/main" id="{4BFFFA6F-89D7-7404-A77A-987A2A81B0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3461" y="4987234"/>
            <a:ext cx="398341" cy="376595"/>
          </a:xfrm>
          <a:prstGeom prst="rect">
            <a:avLst/>
          </a:prstGeom>
        </p:spPr>
      </p:pic>
      <p:pic>
        <p:nvPicPr>
          <p:cNvPr id="22" name="Picture 21" descr="A blue chat bubbles with yellow dots&#10;&#10;AI-generated content may be incorrect.">
            <a:extLst>
              <a:ext uri="{FF2B5EF4-FFF2-40B4-BE49-F238E27FC236}">
                <a16:creationId xmlns:a16="http://schemas.microsoft.com/office/drawing/2014/main" id="{6D1E499F-5CAD-9780-6326-158E7CB1B3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82859" y="4996869"/>
            <a:ext cx="398341" cy="391156"/>
          </a:xfrm>
          <a:prstGeom prst="rect">
            <a:avLst/>
          </a:prstGeom>
        </p:spPr>
      </p:pic>
      <p:pic>
        <p:nvPicPr>
          <p:cNvPr id="24" name="Picture 2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9CE7CE6-95FA-6C52-6BCE-33E9973711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3831" y="4978977"/>
            <a:ext cx="398341" cy="37420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AE483C5-61F9-3D20-85D1-B24F76221FFD}"/>
              </a:ext>
            </a:extLst>
          </p:cNvPr>
          <p:cNvSpPr txBox="1"/>
          <p:nvPr/>
        </p:nvSpPr>
        <p:spPr>
          <a:xfrm>
            <a:off x="53656" y="5449981"/>
            <a:ext cx="828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Intelligent Food Recognition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67F4D-CDFF-7459-7C62-24B0D52B95D5}"/>
              </a:ext>
            </a:extLst>
          </p:cNvPr>
          <p:cNvSpPr txBox="1"/>
          <p:nvPr/>
        </p:nvSpPr>
        <p:spPr>
          <a:xfrm>
            <a:off x="652792" y="5441667"/>
            <a:ext cx="752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NLP-Based Ingredient Extraction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FD2646-8447-D6AA-0C68-12B6EA833F3D}"/>
              </a:ext>
            </a:extLst>
          </p:cNvPr>
          <p:cNvSpPr txBox="1"/>
          <p:nvPr/>
        </p:nvSpPr>
        <p:spPr>
          <a:xfrm>
            <a:off x="1280997" y="5363742"/>
            <a:ext cx="642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AI-Powered Nutrition Analysis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BD4AC5-6442-3177-8A7A-ABC677017CE9}"/>
              </a:ext>
            </a:extLst>
          </p:cNvPr>
          <p:cNvSpPr txBox="1"/>
          <p:nvPr/>
        </p:nvSpPr>
        <p:spPr>
          <a:xfrm>
            <a:off x="1779064" y="5401529"/>
            <a:ext cx="10416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AI-Driven Diet Suggestions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724A4C-B627-1101-32B6-A14572E4A616}"/>
              </a:ext>
            </a:extLst>
          </p:cNvPr>
          <p:cNvSpPr txBox="1"/>
          <p:nvPr/>
        </p:nvSpPr>
        <p:spPr>
          <a:xfrm>
            <a:off x="2474752" y="5367511"/>
            <a:ext cx="8984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Conversational Chatbot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575B93-919E-81D1-BDF4-BE2B5BEC8C22}"/>
              </a:ext>
            </a:extLst>
          </p:cNvPr>
          <p:cNvSpPr txBox="1"/>
          <p:nvPr/>
        </p:nvSpPr>
        <p:spPr>
          <a:xfrm>
            <a:off x="3201215" y="5375035"/>
            <a:ext cx="8795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Smart  Meal Planning Dashboard </a:t>
            </a:r>
            <a:endParaRPr lang="en-IN" sz="800" dirty="0"/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C71AED58-280D-7637-F717-D7A58F666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66" y="0"/>
            <a:ext cx="8001000" cy="1143000"/>
          </a:xfrm>
        </p:spPr>
        <p:txBody>
          <a:bodyPr/>
          <a:lstStyle/>
          <a:p>
            <a:r>
              <a:rPr lang="en-IN" dirty="0"/>
              <a:t>TECHNICAL APPROACH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759E40-2A30-74F6-4505-0EE0D4FAB1DA}"/>
              </a:ext>
            </a:extLst>
          </p:cNvPr>
          <p:cNvSpPr txBox="1"/>
          <p:nvPr/>
        </p:nvSpPr>
        <p:spPr>
          <a:xfrm>
            <a:off x="4809066" y="1705142"/>
            <a:ext cx="7239000" cy="287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2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bject 3">
            <a:extLst>
              <a:ext uri="{FF2B5EF4-FFF2-40B4-BE49-F238E27FC236}">
                <a16:creationId xmlns:a16="http://schemas.microsoft.com/office/drawing/2014/main" id="{61087C26-CAE5-B6AF-95C9-BFC116A9604E}"/>
              </a:ext>
            </a:extLst>
          </p:cNvPr>
          <p:cNvSpPr txBox="1">
            <a:spLocks/>
          </p:cNvSpPr>
          <p:nvPr/>
        </p:nvSpPr>
        <p:spPr>
          <a:xfrm>
            <a:off x="185224" y="1143000"/>
            <a:ext cx="5252177" cy="562142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>
            <a:lvl1pPr marL="0">
              <a:defRPr sz="275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r>
              <a:rPr lang="en-IN" sz="1800" b="1" u="sng" spc="-10" dirty="0">
                <a:solidFill>
                  <a:schemeClr val="accent6"/>
                </a:solidFill>
              </a:rPr>
              <a:t>Process </a:t>
            </a:r>
            <a:r>
              <a:rPr lang="en-IN" sz="1800" b="1" u="sng" spc="-25" dirty="0">
                <a:solidFill>
                  <a:schemeClr val="accent6"/>
                </a:solidFill>
              </a:rPr>
              <a:t>for </a:t>
            </a:r>
            <a:r>
              <a:rPr lang="en-IN" sz="1800" b="1" u="sng" spc="-10" dirty="0">
                <a:solidFill>
                  <a:schemeClr val="accent6"/>
                </a:solidFill>
              </a:rPr>
              <a:t>Implementation</a:t>
            </a:r>
            <a:endParaRPr lang="en-IN" sz="1800" b="1" u="sng" dirty="0">
              <a:solidFill>
                <a:schemeClr val="accent6"/>
              </a:solidFill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800" dirty="0">
              <a:solidFill>
                <a:schemeClr val="accent6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A99E182-03A9-4BD6-D886-CA2E6207C193}"/>
              </a:ext>
            </a:extLst>
          </p:cNvPr>
          <p:cNvGrpSpPr/>
          <p:nvPr/>
        </p:nvGrpSpPr>
        <p:grpSpPr>
          <a:xfrm>
            <a:off x="4387647" y="5825748"/>
            <a:ext cx="4271320" cy="785318"/>
            <a:chOff x="5443537" y="5333999"/>
            <a:chExt cx="6367463" cy="838201"/>
          </a:xfrm>
        </p:grpSpPr>
        <p:sp>
          <p:nvSpPr>
            <p:cNvPr id="38" name="Rectangle: Diagonal Corners Rounded 37">
              <a:extLst>
                <a:ext uri="{FF2B5EF4-FFF2-40B4-BE49-F238E27FC236}">
                  <a16:creationId xmlns:a16="http://schemas.microsoft.com/office/drawing/2014/main" id="{4E80A008-4735-BD74-BD17-74764562F29A}"/>
                </a:ext>
              </a:extLst>
            </p:cNvPr>
            <p:cNvSpPr/>
            <p:nvPr/>
          </p:nvSpPr>
          <p:spPr>
            <a:xfrm>
              <a:off x="5443537" y="5333999"/>
              <a:ext cx="6367463" cy="838201"/>
            </a:xfrm>
            <a:prstGeom prst="round2Diag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565451F-1C97-D41E-1ABA-DF06265F0432}"/>
                </a:ext>
              </a:extLst>
            </p:cNvPr>
            <p:cNvGrpSpPr/>
            <p:nvPr/>
          </p:nvGrpSpPr>
          <p:grpSpPr>
            <a:xfrm>
              <a:off x="6824900" y="5509801"/>
              <a:ext cx="1551753" cy="458026"/>
              <a:chOff x="6189351" y="4671596"/>
              <a:chExt cx="1551753" cy="458025"/>
            </a:xfrm>
          </p:grpSpPr>
          <p:pic>
            <p:nvPicPr>
              <p:cNvPr id="43" name="Picture 14" descr="Google TensorFlow Icon SVG Vector &amp; PNG Free Download | UXWing">
                <a:extLst>
                  <a:ext uri="{FF2B5EF4-FFF2-40B4-BE49-F238E27FC236}">
                    <a16:creationId xmlns:a16="http://schemas.microsoft.com/office/drawing/2014/main" id="{31086094-FC9C-B1CC-4ECC-2FB66585804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85537" y="4683531"/>
                <a:ext cx="455567" cy="4114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6" name="Picture 12" descr="Python Logo PNG Transparent &amp; SVG Vector - Freebie Supply">
                <a:extLst>
                  <a:ext uri="{FF2B5EF4-FFF2-40B4-BE49-F238E27FC236}">
                    <a16:creationId xmlns:a16="http://schemas.microsoft.com/office/drawing/2014/main" id="{6465A0E7-657E-A08C-A49D-80533EB317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89351" y="4671596"/>
                <a:ext cx="512372" cy="4580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E5E4CB72-A217-453D-3398-C70770634F5C}"/>
              </a:ext>
            </a:extLst>
          </p:cNvPr>
          <p:cNvSpPr/>
          <p:nvPr/>
        </p:nvSpPr>
        <p:spPr>
          <a:xfrm>
            <a:off x="2523066" y="3302802"/>
            <a:ext cx="838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IN" sz="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diagram of a cow&#10;&#10;AI-generated content may be incorrect.">
            <a:extLst>
              <a:ext uri="{FF2B5EF4-FFF2-40B4-BE49-F238E27FC236}">
                <a16:creationId xmlns:a16="http://schemas.microsoft.com/office/drawing/2014/main" id="{6DDCD7F4-88FB-88AC-7C07-F281ED258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752" y="1506293"/>
            <a:ext cx="3821082" cy="4385624"/>
          </a:xfrm>
          <a:prstGeom prst="rect">
            <a:avLst/>
          </a:prstGeom>
        </p:spPr>
      </p:pic>
      <p:pic>
        <p:nvPicPr>
          <p:cNvPr id="6" name="Picture 5" descr="A graph with colored dots and arrows&#10;&#10;AI-generated content may be incorrect.">
            <a:extLst>
              <a:ext uri="{FF2B5EF4-FFF2-40B4-BE49-F238E27FC236}">
                <a16:creationId xmlns:a16="http://schemas.microsoft.com/office/drawing/2014/main" id="{2A77C3AE-807F-5B00-94BA-EDAC53C197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4360" y="6023206"/>
            <a:ext cx="359934" cy="359934"/>
          </a:xfrm>
          <a:prstGeom prst="rect">
            <a:avLst/>
          </a:prstGeom>
        </p:spPr>
      </p:pic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5745AA1-E886-35FD-0F73-9C60E82C74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9686" y="6031469"/>
            <a:ext cx="337416" cy="337416"/>
          </a:xfrm>
          <a:prstGeom prst="rect">
            <a:avLst/>
          </a:prstGeom>
        </p:spPr>
      </p:pic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9563F23-B6DB-1A61-C694-1F98DBEAFF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1450" y="5989318"/>
            <a:ext cx="427710" cy="4277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978626-427F-564B-69C9-429BEFF290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5989318"/>
            <a:ext cx="427710" cy="427710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65DEEC-2F1A-8DC4-7EFE-2D22086E20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8222" y="1535904"/>
            <a:ext cx="4882164" cy="25987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5C4A39B-38EA-FE5A-7F3A-977ADD03D9C5}"/>
              </a:ext>
            </a:extLst>
          </p:cNvPr>
          <p:cNvSpPr txBox="1"/>
          <p:nvPr/>
        </p:nvSpPr>
        <p:spPr>
          <a:xfrm>
            <a:off x="4115362" y="4341412"/>
            <a:ext cx="4882165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300" dirty="0"/>
              <a:t>Built an NLP-powered </a:t>
            </a:r>
            <a:r>
              <a:rPr lang="en-IN" sz="1300" dirty="0" err="1"/>
              <a:t>Streamlit</a:t>
            </a:r>
            <a:r>
              <a:rPr lang="en-IN" sz="1300" dirty="0"/>
              <a:t> web app using </a:t>
            </a:r>
            <a:r>
              <a:rPr lang="en-IN" sz="1300" dirty="0" err="1"/>
              <a:t>spaCy</a:t>
            </a:r>
            <a:r>
              <a:rPr lang="en-IN" sz="1300" dirty="0"/>
              <a:t> and Cohere for ingredient parsing, meal analysis, and personalized diet recommendations with interactive visualizations.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300" dirty="0"/>
              <a:t>Integrated </a:t>
            </a:r>
            <a:r>
              <a:rPr lang="en-IN" sz="1300" dirty="0" err="1"/>
              <a:t>CalorieNinjas</a:t>
            </a:r>
            <a:r>
              <a:rPr lang="en-IN" sz="1300" dirty="0"/>
              <a:t> and </a:t>
            </a:r>
            <a:r>
              <a:rPr lang="en-IN" sz="1300" dirty="0" err="1"/>
              <a:t>Spoonacular</a:t>
            </a:r>
            <a:r>
              <a:rPr lang="en-IN" sz="1300" dirty="0"/>
              <a:t> APIs for real-time nutrition insights and meal planning, enabling context-aware chatbot responses tailored to user profiles.</a:t>
            </a:r>
          </a:p>
        </p:txBody>
      </p:sp>
    </p:spTree>
    <p:extLst>
      <p:ext uri="{BB962C8B-B14F-4D97-AF65-F5344CB8AC3E}">
        <p14:creationId xmlns:p14="http://schemas.microsoft.com/office/powerpoint/2010/main" val="3669241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A1964A2-DFF1-F818-A171-734DADAC3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FEASIBILITY AND VIABILITY</a:t>
            </a:r>
          </a:p>
        </p:txBody>
      </p:sp>
      <p:pic>
        <p:nvPicPr>
          <p:cNvPr id="8" name="Picture 7" descr="A logo of a hand shaking&#10;&#10;AI-generated content may be incorrect.">
            <a:extLst>
              <a:ext uri="{FF2B5EF4-FFF2-40B4-BE49-F238E27FC236}">
                <a16:creationId xmlns:a16="http://schemas.microsoft.com/office/drawing/2014/main" id="{1E3DCFAE-6798-AFAD-304A-6986EF757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144" y="3133177"/>
            <a:ext cx="1436871" cy="15318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135BF5-9D04-6498-4015-5C710755C7E8}"/>
              </a:ext>
            </a:extLst>
          </p:cNvPr>
          <p:cNvSpPr txBox="1"/>
          <p:nvPr/>
        </p:nvSpPr>
        <p:spPr>
          <a:xfrm>
            <a:off x="4548198" y="1158181"/>
            <a:ext cx="530066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u="sng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Challenges and Risks</a:t>
            </a:r>
          </a:p>
          <a:p>
            <a:endParaRPr lang="en-US" sz="2000" b="1" u="sng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504FF98-2DE7-1379-9F0C-39FB09086FCA}"/>
              </a:ext>
            </a:extLst>
          </p:cNvPr>
          <p:cNvSpPr/>
          <p:nvPr/>
        </p:nvSpPr>
        <p:spPr>
          <a:xfrm>
            <a:off x="4434268" y="1232634"/>
            <a:ext cx="4607606" cy="2342613"/>
          </a:xfrm>
          <a:prstGeom prst="roundRect">
            <a:avLst>
              <a:gd name="adj" fmla="val 4280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546179-9DE9-F6BF-24F2-FCF3446B137A}"/>
              </a:ext>
            </a:extLst>
          </p:cNvPr>
          <p:cNvSpPr txBox="1"/>
          <p:nvPr/>
        </p:nvSpPr>
        <p:spPr>
          <a:xfrm>
            <a:off x="4434269" y="3762507"/>
            <a:ext cx="4607606" cy="28114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u="sng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Strategies for Overcoming Risks</a:t>
            </a:r>
          </a:p>
          <a:p>
            <a:endParaRPr lang="en-US" b="1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kern="100" dirty="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Maintain local backup datasets and caching to ensure continuity when</a:t>
            </a:r>
            <a:r>
              <a:rPr lang="en-US" b="1" kern="100" dirty="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APIs </a:t>
            </a:r>
            <a:r>
              <a:rPr lang="en-US" kern="100" dirty="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fail.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kern="100" dirty="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Cross-verify data from multiple sources and use </a:t>
            </a:r>
            <a:r>
              <a:rPr lang="en-US" b="1" kern="100" dirty="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confidence scoring </a:t>
            </a:r>
            <a:r>
              <a:rPr lang="en-US" kern="100" dirty="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for accuracy.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kern="100" dirty="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Apply encryption, anonymization, and compliance with </a:t>
            </a:r>
            <a:r>
              <a:rPr lang="en-US" b="1" kern="100" dirty="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GDPR-lik</a:t>
            </a:r>
            <a:r>
              <a:rPr lang="en-US" kern="100" dirty="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e standards.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kern="100" dirty="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Use asynchronous processing, model optimization, and cloud auto-scaling for performance.</a:t>
            </a:r>
          </a:p>
          <a:p>
            <a:endParaRPr lang="en-US" sz="900" kern="100" dirty="0">
              <a:solidFill>
                <a:schemeClr val="accent6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50" kern="100" dirty="0">
              <a:solidFill>
                <a:schemeClr val="accent6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C925241-5CAE-1837-BA87-7EF4B6ABAC05}"/>
              </a:ext>
            </a:extLst>
          </p:cNvPr>
          <p:cNvSpPr/>
          <p:nvPr/>
        </p:nvSpPr>
        <p:spPr>
          <a:xfrm>
            <a:off x="4434268" y="3819857"/>
            <a:ext cx="4607606" cy="2342613"/>
          </a:xfrm>
          <a:prstGeom prst="roundRect">
            <a:avLst>
              <a:gd name="adj" fmla="val 4280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bject 3">
            <a:extLst>
              <a:ext uri="{FF2B5EF4-FFF2-40B4-BE49-F238E27FC236}">
                <a16:creationId xmlns:a16="http://schemas.microsoft.com/office/drawing/2014/main" id="{2E7EC823-376B-1AE2-9496-0B87F9D9B725}"/>
              </a:ext>
            </a:extLst>
          </p:cNvPr>
          <p:cNvSpPr txBox="1"/>
          <p:nvPr/>
        </p:nvSpPr>
        <p:spPr>
          <a:xfrm>
            <a:off x="102126" y="1240179"/>
            <a:ext cx="5757863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25"/>
              </a:spcBef>
              <a:buSzPct val="96875"/>
              <a:tabLst>
                <a:tab pos="374650" algn="l"/>
              </a:tabLst>
            </a:pPr>
            <a:r>
              <a:rPr lang="en-IN" sz="2000" b="1" u="sng" dirty="0">
                <a:solidFill>
                  <a:schemeClr val="accent6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Analysis of Feasibility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6374B0E-0119-114C-046E-2E9EDF26A2DC}"/>
              </a:ext>
            </a:extLst>
          </p:cNvPr>
          <p:cNvGrpSpPr/>
          <p:nvPr/>
        </p:nvGrpSpPr>
        <p:grpSpPr>
          <a:xfrm>
            <a:off x="2314746" y="2212321"/>
            <a:ext cx="1911797" cy="916394"/>
            <a:chOff x="2345435" y="1953933"/>
            <a:chExt cx="1845565" cy="865467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D2BBF0F-8239-592F-6A61-2AC4959B9473}"/>
                </a:ext>
              </a:extLst>
            </p:cNvPr>
            <p:cNvSpPr/>
            <p:nvPr/>
          </p:nvSpPr>
          <p:spPr>
            <a:xfrm>
              <a:off x="2362200" y="1953933"/>
              <a:ext cx="1828800" cy="865467"/>
            </a:xfrm>
            <a:custGeom>
              <a:avLst/>
              <a:gdLst>
                <a:gd name="connsiteX0" fmla="*/ 0 w 2676821"/>
                <a:gd name="connsiteY0" fmla="*/ 173397 h 1733973"/>
                <a:gd name="connsiteX1" fmla="*/ 173397 w 2676821"/>
                <a:gd name="connsiteY1" fmla="*/ 0 h 1733973"/>
                <a:gd name="connsiteX2" fmla="*/ 2503424 w 2676821"/>
                <a:gd name="connsiteY2" fmla="*/ 0 h 1733973"/>
                <a:gd name="connsiteX3" fmla="*/ 2676821 w 2676821"/>
                <a:gd name="connsiteY3" fmla="*/ 173397 h 1733973"/>
                <a:gd name="connsiteX4" fmla="*/ 2676821 w 2676821"/>
                <a:gd name="connsiteY4" fmla="*/ 1560576 h 1733973"/>
                <a:gd name="connsiteX5" fmla="*/ 2503424 w 2676821"/>
                <a:gd name="connsiteY5" fmla="*/ 1733973 h 1733973"/>
                <a:gd name="connsiteX6" fmla="*/ 173397 w 2676821"/>
                <a:gd name="connsiteY6" fmla="*/ 1733973 h 1733973"/>
                <a:gd name="connsiteX7" fmla="*/ 0 w 2676821"/>
                <a:gd name="connsiteY7" fmla="*/ 1560576 h 1733973"/>
                <a:gd name="connsiteX8" fmla="*/ 0 w 2676821"/>
                <a:gd name="connsiteY8" fmla="*/ 173397 h 1733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76821" h="1733973">
                  <a:moveTo>
                    <a:pt x="0" y="173397"/>
                  </a:moveTo>
                  <a:cubicBezTo>
                    <a:pt x="0" y="77632"/>
                    <a:pt x="77632" y="0"/>
                    <a:pt x="173397" y="0"/>
                  </a:cubicBezTo>
                  <a:lnTo>
                    <a:pt x="2503424" y="0"/>
                  </a:lnTo>
                  <a:cubicBezTo>
                    <a:pt x="2599189" y="0"/>
                    <a:pt x="2676821" y="77632"/>
                    <a:pt x="2676821" y="173397"/>
                  </a:cubicBezTo>
                  <a:lnTo>
                    <a:pt x="2676821" y="1560576"/>
                  </a:lnTo>
                  <a:cubicBezTo>
                    <a:pt x="2676821" y="1656341"/>
                    <a:pt x="2599189" y="1733973"/>
                    <a:pt x="2503424" y="1733973"/>
                  </a:cubicBezTo>
                  <a:lnTo>
                    <a:pt x="173397" y="1733973"/>
                  </a:lnTo>
                  <a:cubicBezTo>
                    <a:pt x="77632" y="1733973"/>
                    <a:pt x="0" y="1656341"/>
                    <a:pt x="0" y="1560576"/>
                  </a:cubicBezTo>
                  <a:lnTo>
                    <a:pt x="0" y="173397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8590" tIns="228590" rIns="1031636" bIns="662083" numCol="1" spcCol="1270" anchor="t" anchorCtr="0">
              <a:noAutofit/>
            </a:bodyPr>
            <a:lstStyle/>
            <a:p>
              <a:pPr marL="285750" lvl="1" indent="-285750" algn="l" defTabSz="17335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IN" sz="3900" kern="12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8FFB57B-C0FF-1E17-7EF7-B205B8E44DC5}"/>
                </a:ext>
              </a:extLst>
            </p:cNvPr>
            <p:cNvSpPr txBox="1"/>
            <p:nvPr/>
          </p:nvSpPr>
          <p:spPr>
            <a:xfrm>
              <a:off x="2345435" y="1961780"/>
              <a:ext cx="1845565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IN" sz="165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01C05B7-77DE-26BF-B53A-099BDB4186BE}"/>
              </a:ext>
            </a:extLst>
          </p:cNvPr>
          <p:cNvGrpSpPr/>
          <p:nvPr/>
        </p:nvGrpSpPr>
        <p:grpSpPr>
          <a:xfrm>
            <a:off x="2317889" y="4562090"/>
            <a:ext cx="1845565" cy="1090116"/>
            <a:chOff x="4326635" y="3477933"/>
            <a:chExt cx="1845565" cy="86546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CDBECA3-3EC3-AAA0-1716-6403F8B805BD}"/>
                </a:ext>
              </a:extLst>
            </p:cNvPr>
            <p:cNvSpPr/>
            <p:nvPr/>
          </p:nvSpPr>
          <p:spPr>
            <a:xfrm>
              <a:off x="4326635" y="3477933"/>
              <a:ext cx="1845565" cy="865467"/>
            </a:xfrm>
            <a:custGeom>
              <a:avLst/>
              <a:gdLst>
                <a:gd name="connsiteX0" fmla="*/ 0 w 2676821"/>
                <a:gd name="connsiteY0" fmla="*/ 173397 h 1733973"/>
                <a:gd name="connsiteX1" fmla="*/ 173397 w 2676821"/>
                <a:gd name="connsiteY1" fmla="*/ 0 h 1733973"/>
                <a:gd name="connsiteX2" fmla="*/ 2503424 w 2676821"/>
                <a:gd name="connsiteY2" fmla="*/ 0 h 1733973"/>
                <a:gd name="connsiteX3" fmla="*/ 2676821 w 2676821"/>
                <a:gd name="connsiteY3" fmla="*/ 173397 h 1733973"/>
                <a:gd name="connsiteX4" fmla="*/ 2676821 w 2676821"/>
                <a:gd name="connsiteY4" fmla="*/ 1560576 h 1733973"/>
                <a:gd name="connsiteX5" fmla="*/ 2503424 w 2676821"/>
                <a:gd name="connsiteY5" fmla="*/ 1733973 h 1733973"/>
                <a:gd name="connsiteX6" fmla="*/ 173397 w 2676821"/>
                <a:gd name="connsiteY6" fmla="*/ 1733973 h 1733973"/>
                <a:gd name="connsiteX7" fmla="*/ 0 w 2676821"/>
                <a:gd name="connsiteY7" fmla="*/ 1560576 h 1733973"/>
                <a:gd name="connsiteX8" fmla="*/ 0 w 2676821"/>
                <a:gd name="connsiteY8" fmla="*/ 173397 h 1733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76821" h="1733973">
                  <a:moveTo>
                    <a:pt x="0" y="173397"/>
                  </a:moveTo>
                  <a:cubicBezTo>
                    <a:pt x="0" y="77632"/>
                    <a:pt x="77632" y="0"/>
                    <a:pt x="173397" y="0"/>
                  </a:cubicBezTo>
                  <a:lnTo>
                    <a:pt x="2503424" y="0"/>
                  </a:lnTo>
                  <a:cubicBezTo>
                    <a:pt x="2599189" y="0"/>
                    <a:pt x="2676821" y="77632"/>
                    <a:pt x="2676821" y="173397"/>
                  </a:cubicBezTo>
                  <a:lnTo>
                    <a:pt x="2676821" y="1560576"/>
                  </a:lnTo>
                  <a:cubicBezTo>
                    <a:pt x="2676821" y="1656341"/>
                    <a:pt x="2599189" y="1733973"/>
                    <a:pt x="2503424" y="1733973"/>
                  </a:cubicBezTo>
                  <a:lnTo>
                    <a:pt x="173397" y="1733973"/>
                  </a:lnTo>
                  <a:cubicBezTo>
                    <a:pt x="77632" y="1733973"/>
                    <a:pt x="0" y="1656341"/>
                    <a:pt x="0" y="1560576"/>
                  </a:cubicBezTo>
                  <a:lnTo>
                    <a:pt x="0" y="173397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31636" tIns="228590" rIns="228590" bIns="662083" numCol="1" spcCol="1270" anchor="t" anchorCtr="0">
              <a:noAutofit/>
            </a:bodyPr>
            <a:lstStyle/>
            <a:p>
              <a:pPr marL="285750" lvl="1" indent="-285750" algn="l" defTabSz="17335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IN" sz="3900" kern="12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2C600F6-B309-F97E-F23A-0B53782FF33A}"/>
                </a:ext>
              </a:extLst>
            </p:cNvPr>
            <p:cNvSpPr txBox="1"/>
            <p:nvPr/>
          </p:nvSpPr>
          <p:spPr>
            <a:xfrm>
              <a:off x="4326635" y="3477933"/>
              <a:ext cx="1845565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2700" algn="ctr">
                <a:lnSpc>
                  <a:spcPct val="100000"/>
                </a:lnSpc>
                <a:tabLst>
                  <a:tab pos="355600" algn="l"/>
                </a:tabLst>
              </a:pPr>
              <a:endParaRPr lang="en-IN" sz="1650" dirty="0">
                <a:latin typeface="Arial"/>
                <a:cs typeface="Arial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590DE50-C002-06A3-BF01-8876B9BA973E}"/>
              </a:ext>
            </a:extLst>
          </p:cNvPr>
          <p:cNvGrpSpPr/>
          <p:nvPr/>
        </p:nvGrpSpPr>
        <p:grpSpPr>
          <a:xfrm>
            <a:off x="219149" y="4560031"/>
            <a:ext cx="1915796" cy="1115255"/>
            <a:chOff x="337502" y="3477932"/>
            <a:chExt cx="1915796" cy="865467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C3B1A47-8970-2F98-B425-A8D992D882E1}"/>
                </a:ext>
              </a:extLst>
            </p:cNvPr>
            <p:cNvSpPr/>
            <p:nvPr/>
          </p:nvSpPr>
          <p:spPr>
            <a:xfrm>
              <a:off x="381000" y="3477932"/>
              <a:ext cx="1828800" cy="865467"/>
            </a:xfrm>
            <a:custGeom>
              <a:avLst/>
              <a:gdLst>
                <a:gd name="connsiteX0" fmla="*/ 0 w 2676821"/>
                <a:gd name="connsiteY0" fmla="*/ 173397 h 1733973"/>
                <a:gd name="connsiteX1" fmla="*/ 173397 w 2676821"/>
                <a:gd name="connsiteY1" fmla="*/ 0 h 1733973"/>
                <a:gd name="connsiteX2" fmla="*/ 2503424 w 2676821"/>
                <a:gd name="connsiteY2" fmla="*/ 0 h 1733973"/>
                <a:gd name="connsiteX3" fmla="*/ 2676821 w 2676821"/>
                <a:gd name="connsiteY3" fmla="*/ 173397 h 1733973"/>
                <a:gd name="connsiteX4" fmla="*/ 2676821 w 2676821"/>
                <a:gd name="connsiteY4" fmla="*/ 1560576 h 1733973"/>
                <a:gd name="connsiteX5" fmla="*/ 2503424 w 2676821"/>
                <a:gd name="connsiteY5" fmla="*/ 1733973 h 1733973"/>
                <a:gd name="connsiteX6" fmla="*/ 173397 w 2676821"/>
                <a:gd name="connsiteY6" fmla="*/ 1733973 h 1733973"/>
                <a:gd name="connsiteX7" fmla="*/ 0 w 2676821"/>
                <a:gd name="connsiteY7" fmla="*/ 1560576 h 1733973"/>
                <a:gd name="connsiteX8" fmla="*/ 0 w 2676821"/>
                <a:gd name="connsiteY8" fmla="*/ 173397 h 1733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76821" h="1733973">
                  <a:moveTo>
                    <a:pt x="0" y="173397"/>
                  </a:moveTo>
                  <a:cubicBezTo>
                    <a:pt x="0" y="77632"/>
                    <a:pt x="77632" y="0"/>
                    <a:pt x="173397" y="0"/>
                  </a:cubicBezTo>
                  <a:lnTo>
                    <a:pt x="2503424" y="0"/>
                  </a:lnTo>
                  <a:cubicBezTo>
                    <a:pt x="2599189" y="0"/>
                    <a:pt x="2676821" y="77632"/>
                    <a:pt x="2676821" y="173397"/>
                  </a:cubicBezTo>
                  <a:lnTo>
                    <a:pt x="2676821" y="1560576"/>
                  </a:lnTo>
                  <a:cubicBezTo>
                    <a:pt x="2676821" y="1656341"/>
                    <a:pt x="2599189" y="1733973"/>
                    <a:pt x="2503424" y="1733973"/>
                  </a:cubicBezTo>
                  <a:lnTo>
                    <a:pt x="173397" y="1733973"/>
                  </a:lnTo>
                  <a:cubicBezTo>
                    <a:pt x="77632" y="1733973"/>
                    <a:pt x="0" y="1656341"/>
                    <a:pt x="0" y="1560576"/>
                  </a:cubicBezTo>
                  <a:lnTo>
                    <a:pt x="0" y="173397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8590" tIns="662083" rIns="1031636" bIns="228590" numCol="1" spcCol="1270" anchor="t" anchorCtr="0">
              <a:noAutofit/>
            </a:bodyPr>
            <a:lstStyle/>
            <a:p>
              <a:pPr marL="285750" lvl="1" indent="-285750" algn="l" defTabSz="17335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IN" sz="3900" kern="12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F15B90D-CDE4-4293-9DEC-C8EA7676846A}"/>
                </a:ext>
              </a:extLst>
            </p:cNvPr>
            <p:cNvSpPr txBox="1"/>
            <p:nvPr/>
          </p:nvSpPr>
          <p:spPr>
            <a:xfrm>
              <a:off x="337502" y="3477932"/>
              <a:ext cx="1915796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2700" algn="ctr">
                <a:lnSpc>
                  <a:spcPct val="100000"/>
                </a:lnSpc>
                <a:tabLst>
                  <a:tab pos="355600" algn="l"/>
                </a:tabLst>
              </a:pPr>
              <a:endParaRPr lang="en-IN" sz="1650" dirty="0">
                <a:latin typeface="Arial"/>
                <a:cs typeface="Arial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9FC72F3-3166-DC44-5E37-A15CC19EB70C}"/>
              </a:ext>
            </a:extLst>
          </p:cNvPr>
          <p:cNvGrpSpPr/>
          <p:nvPr/>
        </p:nvGrpSpPr>
        <p:grpSpPr>
          <a:xfrm>
            <a:off x="86919" y="2099329"/>
            <a:ext cx="1915796" cy="1115255"/>
            <a:chOff x="337502" y="3477932"/>
            <a:chExt cx="1915796" cy="865467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D694C43-755C-23F2-CE22-30312126538C}"/>
                </a:ext>
              </a:extLst>
            </p:cNvPr>
            <p:cNvSpPr/>
            <p:nvPr/>
          </p:nvSpPr>
          <p:spPr>
            <a:xfrm>
              <a:off x="381000" y="3477932"/>
              <a:ext cx="1828800" cy="865467"/>
            </a:xfrm>
            <a:custGeom>
              <a:avLst/>
              <a:gdLst>
                <a:gd name="connsiteX0" fmla="*/ 0 w 2676821"/>
                <a:gd name="connsiteY0" fmla="*/ 173397 h 1733973"/>
                <a:gd name="connsiteX1" fmla="*/ 173397 w 2676821"/>
                <a:gd name="connsiteY1" fmla="*/ 0 h 1733973"/>
                <a:gd name="connsiteX2" fmla="*/ 2503424 w 2676821"/>
                <a:gd name="connsiteY2" fmla="*/ 0 h 1733973"/>
                <a:gd name="connsiteX3" fmla="*/ 2676821 w 2676821"/>
                <a:gd name="connsiteY3" fmla="*/ 173397 h 1733973"/>
                <a:gd name="connsiteX4" fmla="*/ 2676821 w 2676821"/>
                <a:gd name="connsiteY4" fmla="*/ 1560576 h 1733973"/>
                <a:gd name="connsiteX5" fmla="*/ 2503424 w 2676821"/>
                <a:gd name="connsiteY5" fmla="*/ 1733973 h 1733973"/>
                <a:gd name="connsiteX6" fmla="*/ 173397 w 2676821"/>
                <a:gd name="connsiteY6" fmla="*/ 1733973 h 1733973"/>
                <a:gd name="connsiteX7" fmla="*/ 0 w 2676821"/>
                <a:gd name="connsiteY7" fmla="*/ 1560576 h 1733973"/>
                <a:gd name="connsiteX8" fmla="*/ 0 w 2676821"/>
                <a:gd name="connsiteY8" fmla="*/ 173397 h 1733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76821" h="1733973">
                  <a:moveTo>
                    <a:pt x="0" y="173397"/>
                  </a:moveTo>
                  <a:cubicBezTo>
                    <a:pt x="0" y="77632"/>
                    <a:pt x="77632" y="0"/>
                    <a:pt x="173397" y="0"/>
                  </a:cubicBezTo>
                  <a:lnTo>
                    <a:pt x="2503424" y="0"/>
                  </a:lnTo>
                  <a:cubicBezTo>
                    <a:pt x="2599189" y="0"/>
                    <a:pt x="2676821" y="77632"/>
                    <a:pt x="2676821" y="173397"/>
                  </a:cubicBezTo>
                  <a:lnTo>
                    <a:pt x="2676821" y="1560576"/>
                  </a:lnTo>
                  <a:cubicBezTo>
                    <a:pt x="2676821" y="1656341"/>
                    <a:pt x="2599189" y="1733973"/>
                    <a:pt x="2503424" y="1733973"/>
                  </a:cubicBezTo>
                  <a:lnTo>
                    <a:pt x="173397" y="1733973"/>
                  </a:lnTo>
                  <a:cubicBezTo>
                    <a:pt x="77632" y="1733973"/>
                    <a:pt x="0" y="1656341"/>
                    <a:pt x="0" y="1560576"/>
                  </a:cubicBezTo>
                  <a:lnTo>
                    <a:pt x="0" y="173397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8590" tIns="662083" rIns="1031636" bIns="228590" numCol="1" spcCol="1270" anchor="t" anchorCtr="0">
              <a:noAutofit/>
            </a:bodyPr>
            <a:lstStyle/>
            <a:p>
              <a:pPr marL="285750" lvl="1" indent="-285750" algn="l" defTabSz="17335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IN" sz="3900" kern="12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99E23DE-4208-795E-76CB-D7F12B4D7257}"/>
                </a:ext>
              </a:extLst>
            </p:cNvPr>
            <p:cNvSpPr txBox="1"/>
            <p:nvPr/>
          </p:nvSpPr>
          <p:spPr>
            <a:xfrm>
              <a:off x="337502" y="3477932"/>
              <a:ext cx="1915796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2700" algn="ctr">
                <a:lnSpc>
                  <a:spcPct val="100000"/>
                </a:lnSpc>
                <a:tabLst>
                  <a:tab pos="355600" algn="l"/>
                </a:tabLst>
              </a:pPr>
              <a:endParaRPr lang="en-IN" sz="1650" dirty="0">
                <a:latin typeface="Arial"/>
                <a:cs typeface="Arial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63C8EA6-CE54-CA60-6F5D-32B5B6E5A2C0}"/>
              </a:ext>
            </a:extLst>
          </p:cNvPr>
          <p:cNvSpPr txBox="1"/>
          <p:nvPr/>
        </p:nvSpPr>
        <p:spPr>
          <a:xfrm>
            <a:off x="180848" y="2143233"/>
            <a:ext cx="184556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Rising global demand for AI-based personalized nutrition platforms makes the solution highly relevant.</a:t>
            </a:r>
            <a:endParaRPr lang="en-IN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186FDD-833C-CC4C-18F2-902687E1AB27}"/>
              </a:ext>
            </a:extLst>
          </p:cNvPr>
          <p:cNvSpPr txBox="1"/>
          <p:nvPr/>
        </p:nvSpPr>
        <p:spPr>
          <a:xfrm>
            <a:off x="2493110" y="2235567"/>
            <a:ext cx="18188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Low-cost, API-driven architecture supports scalable, subscription-based revenue growth.</a:t>
            </a:r>
            <a:endParaRPr lang="en-IN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8FD53F-C987-8701-17DE-84241E4C47B9}"/>
              </a:ext>
            </a:extLst>
          </p:cNvPr>
          <p:cNvSpPr txBox="1"/>
          <p:nvPr/>
        </p:nvSpPr>
        <p:spPr>
          <a:xfrm>
            <a:off x="302468" y="4580626"/>
            <a:ext cx="20058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Built entirely on open-source NLP frameworks and APIs, ensuring flexibility and easy scalability.</a:t>
            </a:r>
            <a:endParaRPr lang="en-IN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93E4AC-DC0F-E031-4F2E-272B8886772A}"/>
              </a:ext>
            </a:extLst>
          </p:cNvPr>
          <p:cNvSpPr txBox="1"/>
          <p:nvPr/>
        </p:nvSpPr>
        <p:spPr>
          <a:xfrm>
            <a:off x="2501743" y="4625903"/>
            <a:ext cx="178571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Streamlit</a:t>
            </a:r>
            <a:r>
              <a:rPr lang="en-US" sz="1200" dirty="0"/>
              <a:t>-based interface offers seamless deployment and simple user onboarding.</a:t>
            </a:r>
            <a:endParaRPr lang="en-IN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BDCE74-060B-E189-DE01-4A68ADC80BC8}"/>
              </a:ext>
            </a:extLst>
          </p:cNvPr>
          <p:cNvSpPr txBox="1"/>
          <p:nvPr/>
        </p:nvSpPr>
        <p:spPr>
          <a:xfrm>
            <a:off x="4514876" y="1702015"/>
            <a:ext cx="434287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External APIs </a:t>
            </a:r>
            <a:r>
              <a:rPr lang="en-US" dirty="0"/>
              <a:t>may have downtime or usage limits.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Web-scraped or API-provided nutrition data might contain </a:t>
            </a:r>
            <a:r>
              <a:rPr lang="en-US" b="1" dirty="0"/>
              <a:t>inconsistencies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Handling user health and dietary information requires strict </a:t>
            </a:r>
            <a:r>
              <a:rPr lang="en-US" b="1" dirty="0"/>
              <a:t>data security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Increased user load</a:t>
            </a:r>
            <a:r>
              <a:rPr lang="en-US" dirty="0"/>
              <a:t> can slow down NLP processing and real-time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277496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80BAA19B-2E47-FA24-FB5B-3F2FF9A792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70660" y="121285"/>
            <a:ext cx="8103234" cy="998219"/>
          </a:xfrm>
          <a:prstGeom prst="rect">
            <a:avLst/>
          </a:prstGeom>
        </p:spPr>
        <p:txBody>
          <a:bodyPr vert="horz" wrap="square" lIns="0" tIns="110236" rIns="0" bIns="0" rtlCol="0">
            <a:spAutoFit/>
          </a:bodyPr>
          <a:lstStyle/>
          <a:p>
            <a:pPr marL="1994535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IMPACT</a:t>
            </a:r>
            <a:r>
              <a:rPr spc="-235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spc="-10" dirty="0"/>
              <a:t>BENEFITS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436EC0F-D4CF-3B85-5D8E-E9F520A4D3B9}"/>
              </a:ext>
            </a:extLst>
          </p:cNvPr>
          <p:cNvSpPr/>
          <p:nvPr/>
        </p:nvSpPr>
        <p:spPr>
          <a:xfrm>
            <a:off x="304800" y="1295400"/>
            <a:ext cx="5443993" cy="5090148"/>
          </a:xfrm>
          <a:prstGeom prst="roundRect">
            <a:avLst>
              <a:gd name="adj" fmla="val 4280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F82FD1-3A69-8E9A-2E6A-F999985D2CEE}"/>
              </a:ext>
            </a:extLst>
          </p:cNvPr>
          <p:cNvSpPr txBox="1"/>
          <p:nvPr/>
        </p:nvSpPr>
        <p:spPr>
          <a:xfrm>
            <a:off x="7733438" y="4724400"/>
            <a:ext cx="1413858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/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/>
            <a:r>
              <a:rPr lang="en-US" sz="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 algn="ctr"/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Social</a:t>
            </a:r>
          </a:p>
          <a:p>
            <a:pPr lvl="0" algn="ctr"/>
            <a:endParaRPr lang="en-US" sz="6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/>
            <a:r>
              <a:rPr lang="en-US" sz="105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Awareness of safe antimicrobial use</a:t>
            </a:r>
            <a:endParaRPr lang="en-IN" sz="105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12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C61954A-7FE7-6674-1171-4D4834BD0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339363"/>
              </p:ext>
            </p:extLst>
          </p:nvPr>
        </p:nvGraphicFramePr>
        <p:xfrm>
          <a:off x="304801" y="1293405"/>
          <a:ext cx="5523507" cy="5250516"/>
        </p:xfrm>
        <a:graphic>
          <a:graphicData uri="http://schemas.openxmlformats.org/drawingml/2006/table">
            <a:tbl>
              <a:tblPr/>
              <a:tblGrid>
                <a:gridCol w="1841169">
                  <a:extLst>
                    <a:ext uri="{9D8B030D-6E8A-4147-A177-3AD203B41FA5}">
                      <a16:colId xmlns:a16="http://schemas.microsoft.com/office/drawing/2014/main" val="579928770"/>
                    </a:ext>
                  </a:extLst>
                </a:gridCol>
                <a:gridCol w="1841169">
                  <a:extLst>
                    <a:ext uri="{9D8B030D-6E8A-4147-A177-3AD203B41FA5}">
                      <a16:colId xmlns:a16="http://schemas.microsoft.com/office/drawing/2014/main" val="147616878"/>
                    </a:ext>
                  </a:extLst>
                </a:gridCol>
                <a:gridCol w="1841169">
                  <a:extLst>
                    <a:ext uri="{9D8B030D-6E8A-4147-A177-3AD203B41FA5}">
                      <a16:colId xmlns:a16="http://schemas.microsoft.com/office/drawing/2014/main" val="2070255544"/>
                    </a:ext>
                  </a:extLst>
                </a:gridCol>
              </a:tblGrid>
              <a:tr h="335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Stakeholder</a:t>
                      </a:r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Impact</a:t>
                      </a:r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Benefits</a:t>
                      </a:r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96286"/>
                  </a:ext>
                </a:extLst>
              </a:tr>
              <a:tr h="1228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Users</a:t>
                      </a: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Gain personalized nutrition insights, meal suggestions, and allergen-safe diet plans for healthier living.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 Improved dietary awareness by </a:t>
                      </a:r>
                      <a:r>
                        <a:rPr lang="en-US" sz="1200" b="1" dirty="0"/>
                        <a:t>60%</a:t>
                      </a:r>
                      <a:r>
                        <a:rPr lang="en-US" sz="1200" dirty="0"/>
                        <a:t>,  healthier food choices leading to </a:t>
                      </a:r>
                      <a:r>
                        <a:rPr lang="en-US" sz="1200" b="1" dirty="0"/>
                        <a:t>25% better goal adherence</a:t>
                      </a:r>
                      <a:r>
                        <a:rPr lang="en-US" sz="1200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267078"/>
                  </a:ext>
                </a:extLst>
              </a:tr>
              <a:tr h="1228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Healthcare Professionals</a:t>
                      </a:r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Access structured dietary data and AI-driven nutritional analysis to assist in patient care.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 Reduces manual dietary tracking time by </a:t>
                      </a:r>
                      <a:r>
                        <a:rPr lang="en-US" sz="1200" b="1" dirty="0"/>
                        <a:t>40%</a:t>
                      </a:r>
                      <a:r>
                        <a:rPr lang="en-US" sz="1200" dirty="0"/>
                        <a:t>, enabling faster and data-backed consultations.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454325"/>
                  </a:ext>
                </a:extLst>
              </a:tr>
              <a:tr h="1228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Fitness Trainers</a:t>
                      </a:r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Receive customized diet recommendations aligned with workout goals for optimized performance.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 Enhances client performance outcomes by </a:t>
                      </a:r>
                      <a:r>
                        <a:rPr lang="en-US" sz="1200" b="1" dirty="0"/>
                        <a:t>30%</a:t>
                      </a:r>
                      <a:r>
                        <a:rPr lang="en-US" sz="1200" dirty="0"/>
                        <a:t>, with personalized nutrition-meal sync.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150533"/>
                  </a:ext>
                </a:extLst>
              </a:tr>
              <a:tr h="1228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Developers / Researchers</a:t>
                      </a:r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Utilize a scalable NLP-driven framework for innovative health and nutrition applications.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 Reduces development time by </a:t>
                      </a:r>
                      <a:r>
                        <a:rPr lang="en-US" sz="1200" b="1" dirty="0"/>
                        <a:t>50%</a:t>
                      </a:r>
                      <a:r>
                        <a:rPr lang="en-US" sz="1200" dirty="0"/>
                        <a:t>, supports integration with APIs and data science workflows.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758335"/>
                  </a:ext>
                </a:extLst>
              </a:tr>
            </a:tbl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2D23F54-E012-D04E-E128-631BEF9880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3321480"/>
              </p:ext>
            </p:extLst>
          </p:nvPr>
        </p:nvGraphicFramePr>
        <p:xfrm>
          <a:off x="5926372" y="1321417"/>
          <a:ext cx="3042699" cy="5038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7126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/>
        </p:nvSpPr>
        <p:spPr>
          <a:xfrm>
            <a:off x="2246312" y="3044825"/>
            <a:ext cx="4651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0001"/>
              </a:buClr>
              <a:buSzPts val="4400"/>
              <a:buFont typeface="Times New Roman"/>
              <a:buNone/>
            </a:pPr>
            <a:r>
              <a:rPr lang="en-US" sz="4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r>
              <a:rPr lang="en-US" sz="4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!</a:t>
            </a:r>
            <a:endParaRPr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ollege template">
  <a:themeElements>
    <a:clrScheme name="college 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llege template">
  <a:themeElements>
    <a:clrScheme name="college 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13429</TotalTime>
  <Words>615</Words>
  <Application>Microsoft Office PowerPoint</Application>
  <PresentationFormat>On-screen Show (4:3)</PresentationFormat>
  <Paragraphs>101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Book Antiqua</vt:lpstr>
      <vt:lpstr>Times New Roman</vt:lpstr>
      <vt:lpstr>Arial</vt:lpstr>
      <vt:lpstr>Calibri</vt:lpstr>
      <vt:lpstr>1_college template</vt:lpstr>
      <vt:lpstr>college template</vt:lpstr>
      <vt:lpstr>AI-Powered Nutrition Chatbot &amp; Meal Planner using NLP</vt:lpstr>
      <vt:lpstr>PROBLEM STATEMENT</vt:lpstr>
      <vt:lpstr>TECHNICAL APPROACH</vt:lpstr>
      <vt:lpstr>FEASIBILITY AND VIABILITY</vt:lpstr>
      <vt:lpstr>IMPACT AND BENEFITS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PROACTIVE ANIMAL HEALTH ANALYSIS</dc:title>
  <dc:creator>Avudaiappan S</dc:creator>
  <cp:lastModifiedBy>VARUN S</cp:lastModifiedBy>
  <cp:revision>32</cp:revision>
  <dcterms:modified xsi:type="dcterms:W3CDTF">2025-10-13T19:22:06Z</dcterms:modified>
</cp:coreProperties>
</file>